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  <p:sldMasterId id="2147483750" r:id="rId5"/>
  </p:sldMasterIdLst>
  <p:sldIdLst>
    <p:sldId id="257" r:id="rId6"/>
    <p:sldId id="259" r:id="rId7"/>
    <p:sldId id="260" r:id="rId8"/>
    <p:sldId id="266" r:id="rId9"/>
    <p:sldId id="267" r:id="rId10"/>
    <p:sldId id="269" r:id="rId11"/>
    <p:sldId id="271" r:id="rId12"/>
    <p:sldId id="270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1262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BEB0-6DB8-E81F-6BFA-A1B2E6952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F1219-B0D4-5B4B-6D9B-7E0925B77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5D152-25E8-FD3B-C802-98FDA0B6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524F7-4A4E-9110-2326-AAA3BE066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5E0FB-F098-640C-95E2-B37E79AA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655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F9E6-DCC4-263A-E743-D51D0419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4B452-CA0D-EC25-EC86-DAE77F89B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67366-556F-822D-3A4A-0AE3A385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AA84D-CC43-D43F-8A5E-CC007555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C1D12-7E4B-5461-7F29-30AC8CFD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4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AD6D-A7B3-6452-8D85-6C0612AF1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DC07B-9CA7-5A12-EACF-C8992C6E5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1DFB8-8C3E-AB3A-0028-B7175DE2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68472-D356-7026-9BBD-D630EA626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7402C-6A54-ED1F-6F71-C78A546A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86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7B13-5070-E0D2-C7F7-63956D30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E4608-C2EB-0A50-5AE0-4C40D4554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B1B00-3DA9-D2A5-3DF2-2A1D35FFE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4451C-B1DC-A113-C0F6-458DFD38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37660-BFE7-2AE5-3276-7B7585B5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217E7-6CA7-64C6-08A1-26AEC2C9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884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EE54-EE19-7C73-CC6B-F9CDEAB9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3EBBB-F9AB-0C14-98D9-02F5387E1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E5442-2E62-79F1-25B1-244408CB0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580194-19AC-7768-9674-0DBCD13A4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83262-A337-8331-6523-29BDA6B64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10F592-62A1-8E23-10CE-4AE5359B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A22745-5D46-74BA-A222-B5C33DBB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E6EB1-B762-A06E-97EC-A8D0CFEE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908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8F16-7C8A-F913-2C33-44C389EC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10247-DE83-26CE-D5A1-6DAA35364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C52F5-EF1A-3045-77DF-84368EAB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E07DC-40ED-F74E-6FF0-E354370C8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253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A9463-AA19-B069-E551-6356F6FA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2A85AE-1E38-E920-2FBA-1D3BDABF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8FA19-59AF-0D1F-2646-AA103CA0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364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76D3-22D3-DEBB-5111-2ADB14D88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289C-2F8E-F77F-934D-0D6C13B06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C1E8A-9CF8-57AE-4EA5-7D4A6538E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3C37C-C835-F89E-B232-6006497E6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D6D85-1818-6064-4BD6-D973CC8B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6F586-2A70-4AAE-FD49-350D746A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936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2E4D-87EB-4BC2-6932-04989B34D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58869-14D8-9A96-A7DE-350BA0DF1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8BD5C-2B18-6413-ADE5-2A04D6C97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4DF92-541C-C942-9770-7BC9986A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E0D0D-1A54-81AC-04E1-9C446AB4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20717-522F-16CA-1F3B-8F6D01728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69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2A8FF-7A8E-3CE5-A3C1-DD090D99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DF280-763D-18B2-C15E-E85AFCCE1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B518C-AF7C-9EFC-4B04-097F817B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C948F-BB48-7CA1-9677-9A043EEF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DE13D-C0F1-BAB8-0510-5348D576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22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37ED7-6DD4-2808-4093-1EB298F56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FAB04-1DA8-EBDD-58FC-FA7E9C9A1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5723D-AFA1-DD5D-BDD4-E222E5D9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DC9A9-935A-42E2-0F40-EFDE43BAC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3CACD-B240-39E7-F6C1-DE5DB85B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84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33E4E-E263-0924-29A0-E916883A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8240-BD6D-FCB6-F2B0-CF04B80A3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8A6B-4B72-4CE5-0780-F4531287D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0E759-0DD9-5D01-261A-6A2728072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3740F-78CE-E617-190A-4FAB4FF7F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38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3.sv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Fleet | Qantas AU">
            <a:extLst>
              <a:ext uri="{FF2B5EF4-FFF2-40B4-BE49-F238E27FC236}">
                <a16:creationId xmlns:a16="http://schemas.microsoft.com/office/drawing/2014/main" id="{BEC9DE94-6646-F67C-61D4-F4744DBC4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27" b="12115"/>
          <a:stretch/>
        </p:blipFill>
        <p:spPr bwMode="auto">
          <a:xfrm>
            <a:off x="15" y="10"/>
            <a:ext cx="12191985" cy="457834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5" y="4646645"/>
            <a:ext cx="9857618" cy="1352939"/>
          </a:xfrm>
        </p:spPr>
        <p:txBody>
          <a:bodyPr anchor="b">
            <a:normAutofit/>
          </a:bodyPr>
          <a:lstStyle/>
          <a:p>
            <a:r>
              <a:rPr lang="en-US" sz="4000" b="1" i="0" u="sng" dirty="0">
                <a:effectLst/>
              </a:rPr>
              <a:t>Foreign Object Debris </a:t>
            </a:r>
            <a:r>
              <a:rPr lang="en-US" sz="4000" b="1" u="sng" dirty="0"/>
              <a:t>D</a:t>
            </a:r>
            <a:r>
              <a:rPr lang="en-US" sz="4000" b="1" i="0" u="sng" dirty="0">
                <a:effectLst/>
              </a:rPr>
              <a:t>etection</a:t>
            </a:r>
            <a:r>
              <a:rPr lang="en-US" sz="4000" b="1" u="sng" dirty="0"/>
              <a:t> on Runways</a:t>
            </a:r>
            <a:r>
              <a:rPr lang="en-US" sz="4000" b="1" i="0" u="sng" dirty="0">
                <a:effectLst/>
              </a:rPr>
              <a:t> using Artificial Intelligence</a:t>
            </a:r>
            <a:endParaRPr lang="en-US" sz="40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103" y="6134877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 dirty="0"/>
              <a:t>Name:</a:t>
            </a:r>
            <a:r>
              <a:rPr lang="en-US" sz="1700" dirty="0"/>
              <a:t> Rory Blair</a:t>
            </a:r>
          </a:p>
          <a:p>
            <a:pPr>
              <a:lnSpc>
                <a:spcPct val="100000"/>
              </a:lnSpc>
            </a:pPr>
            <a:r>
              <a:rPr lang="en-US" sz="1700" b="1" dirty="0"/>
              <a:t>ID:</a:t>
            </a:r>
            <a:r>
              <a:rPr lang="en-US" sz="1700" dirty="0"/>
              <a:t> n10773398</a:t>
            </a:r>
          </a:p>
        </p:txBody>
      </p:sp>
      <p:pic>
        <p:nvPicPr>
          <p:cNvPr id="9" name="Camera 8">
            <a:extLst>
              <a:ext uri="{FF2B5EF4-FFF2-40B4-BE49-F238E27FC236}">
                <a16:creationId xmlns:a16="http://schemas.microsoft.com/office/drawing/2014/main" id="{5B6BA769-B11A-58D8-646A-549A53F9275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4600" y="4800600"/>
            <a:ext cx="2057400" cy="2057400"/>
          </a:xfrm>
          <a:prstGeom prst="ellipse">
            <a:avLst/>
          </a:prstGeom>
          <a:ln w="571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8CA654-7376-A12F-6FF6-0ABAF06C27DF}"/>
              </a:ext>
            </a:extLst>
          </p:cNvPr>
          <p:cNvSpPr txBox="1"/>
          <p:nvPr/>
        </p:nvSpPr>
        <p:spPr>
          <a:xfrm>
            <a:off x="11686807" y="4116685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[1]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4782-DC18-1F87-93FD-010F021C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05069"/>
          </a:xfrm>
        </p:spPr>
        <p:txBody>
          <a:bodyPr anchor="b">
            <a:normAutofit/>
          </a:bodyPr>
          <a:lstStyle/>
          <a:p>
            <a:r>
              <a:rPr lang="en-AU" sz="4800" b="1" u="sng" dirty="0"/>
              <a:t>Introduction</a:t>
            </a:r>
          </a:p>
        </p:txBody>
      </p:sp>
      <p:pic>
        <p:nvPicPr>
          <p:cNvPr id="2052" name="Picture 4" descr="FOD- Foreign Object Debris/ Damage">
            <a:extLst>
              <a:ext uri="{FF2B5EF4-FFF2-40B4-BE49-F238E27FC236}">
                <a16:creationId xmlns:a16="http://schemas.microsoft.com/office/drawing/2014/main" id="{6BE64084-E40A-6BDC-63FB-4B7876FA0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24" b="-1"/>
          <a:stretch/>
        </p:blipFill>
        <p:spPr bwMode="auto">
          <a:xfrm>
            <a:off x="4629872" y="-1"/>
            <a:ext cx="7562128" cy="379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503D-F51B-0413-7D7B-58A6900B7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3935" y="905069"/>
            <a:ext cx="4301411" cy="5866121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Foreign Object Debris (FOD):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 object that is in a location that may result in damage to a vehicle (aircraft) or a human.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 2008, FOD causes airlines per airport per year a cost of around USD 20 Million </a:t>
            </a:r>
            <a: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Methods to mitigate FOD incidents, like visual checks and sweepers, involve human interaction that can put assessors at risk.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Artificial Intelligence (AI):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AI models now have the capability to identify anomalies within images and videos.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Research Problem: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problem is although there is an implemented design, it doesn’t require verification from humans before a team is sent to the runway for inspection.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bg1"/>
                </a:solidFill>
              </a:rPr>
              <a:t>Research Question: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Is AI alone sufficient when it comes to FOD detection on runways?</a:t>
            </a:r>
            <a:r>
              <a:rPr lang="en-US" sz="1000" dirty="0"/>
              <a:t> </a:t>
            </a:r>
            <a:endParaRPr lang="en-AU" sz="1000" dirty="0">
              <a:solidFill>
                <a:schemeClr val="bg1"/>
              </a:solidFill>
            </a:endParaRPr>
          </a:p>
        </p:txBody>
      </p:sp>
      <p:pic>
        <p:nvPicPr>
          <p:cNvPr id="2054" name="Picture 6" descr="Object Detection for Businesses | alwaysAI Blog">
            <a:extLst>
              <a:ext uri="{FF2B5EF4-FFF2-40B4-BE49-F238E27FC236}">
                <a16:creationId xmlns:a16="http://schemas.microsoft.com/office/drawing/2014/main" id="{2D932A52-771E-652B-2D99-C49D2B8DD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11" t="21130" r="14905" b="14087"/>
          <a:stretch/>
        </p:blipFill>
        <p:spPr bwMode="auto">
          <a:xfrm>
            <a:off x="4629872" y="3429000"/>
            <a:ext cx="7562127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4EB944CC-4F40-0943-B824-D4241D4B60AB}"/>
              </a:ext>
            </a:extLst>
          </p:cNvPr>
          <p:cNvSpPr/>
          <p:nvPr/>
        </p:nvSpPr>
        <p:spPr>
          <a:xfrm>
            <a:off x="8410935" y="2465408"/>
            <a:ext cx="1122744" cy="740779"/>
          </a:xfrm>
          <a:prstGeom prst="donut">
            <a:avLst>
              <a:gd name="adj" fmla="val 703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pic>
        <p:nvPicPr>
          <p:cNvPr id="13" name="Camera 12">
            <a:extLst>
              <a:ext uri="{FF2B5EF4-FFF2-40B4-BE49-F238E27FC236}">
                <a16:creationId xmlns:a16="http://schemas.microsoft.com/office/drawing/2014/main" id="{6DD04016-5E0F-3310-E357-81B5201DEE0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4600" y="4800599"/>
            <a:ext cx="2057400" cy="2057400"/>
          </a:xfrm>
          <a:prstGeom prst="ellipse">
            <a:avLst/>
          </a:prstGeom>
          <a:ln w="57150"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52D935-CAAF-62EE-0F4D-8BC0066AC0A9}"/>
              </a:ext>
            </a:extLst>
          </p:cNvPr>
          <p:cNvSpPr txBox="1"/>
          <p:nvPr/>
        </p:nvSpPr>
        <p:spPr>
          <a:xfrm>
            <a:off x="11686822" y="2975354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[2]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0A516-E151-63C6-4CF6-3D6AD2955566}"/>
              </a:ext>
            </a:extLst>
          </p:cNvPr>
          <p:cNvSpPr txBox="1"/>
          <p:nvPr/>
        </p:nvSpPr>
        <p:spPr>
          <a:xfrm>
            <a:off x="11686821" y="3490357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[3]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9447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>
        <p15:prstTrans prst="airplane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11D4F21-4D13-573F-4733-47E0DB68EE31}"/>
              </a:ext>
            </a:extLst>
          </p:cNvPr>
          <p:cNvSpPr/>
          <p:nvPr/>
        </p:nvSpPr>
        <p:spPr>
          <a:xfrm>
            <a:off x="4600575" y="0"/>
            <a:ext cx="7591425" cy="70008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Content Placeholder 5" descr="A tire on a trailer&#10;&#10;Description automatically generated">
            <a:extLst>
              <a:ext uri="{FF2B5EF4-FFF2-40B4-BE49-F238E27FC236}">
                <a16:creationId xmlns:a16="http://schemas.microsoft.com/office/drawing/2014/main" id="{131BC0C6-7641-E6D4-CDE5-869E4F7EA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425814"/>
            <a:ext cx="3279462" cy="1847851"/>
          </a:xfrm>
        </p:spPr>
      </p:pic>
      <p:pic>
        <p:nvPicPr>
          <p:cNvPr id="3076" name="Picture 4" descr="undefined">
            <a:extLst>
              <a:ext uri="{FF2B5EF4-FFF2-40B4-BE49-F238E27FC236}">
                <a16:creationId xmlns:a16="http://schemas.microsoft.com/office/drawing/2014/main" id="{5915DE8D-E44D-D40C-2BF2-A6DDEAAB0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339" y="402669"/>
            <a:ext cx="295275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B35A8A-7DAF-22AC-C0F7-F9A961AB0DE0}"/>
              </a:ext>
            </a:extLst>
          </p:cNvPr>
          <p:cNvSpPr/>
          <p:nvPr/>
        </p:nvSpPr>
        <p:spPr>
          <a:xfrm>
            <a:off x="8419225" y="982893"/>
            <a:ext cx="584521" cy="641101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DD98540-C114-C357-186E-C292E0965F8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9050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8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 (Headings)"/>
              </a:rPr>
              <a:t>Rationale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D358B-F5C2-E821-196F-77597EA4FF62}"/>
              </a:ext>
            </a:extLst>
          </p:cNvPr>
          <p:cNvSpPr txBox="1">
            <a:spLocks/>
          </p:cNvSpPr>
          <p:nvPr/>
        </p:nvSpPr>
        <p:spPr>
          <a:xfrm>
            <a:off x="223935" y="905069"/>
            <a:ext cx="4300439" cy="586612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Incident caused by FOD on runways</a:t>
            </a:r>
            <a:r>
              <a:rPr lang="en-AU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A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Air France 4590 (Concorde) in 2000 (Top example) </a:t>
            </a:r>
          </a:p>
          <a:p>
            <a:pPr lvl="1">
              <a:lnSpc>
                <a:spcPct val="100000"/>
              </a:lnSpc>
            </a:pPr>
            <a:r>
              <a:rPr lang="en-AU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ranklin Gothic Book (Body)"/>
              </a:rPr>
              <a:t>Singapore Airlines 747-400 freighter in 2021 (</a:t>
            </a:r>
            <a:r>
              <a:rPr lang="en-A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Bottom </a:t>
            </a:r>
            <a:r>
              <a:rPr lang="en-AU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ranklin Gothic Book (Body)"/>
              </a:rPr>
              <a:t>example)</a:t>
            </a:r>
          </a:p>
          <a:p>
            <a:pPr>
              <a:lnSpc>
                <a:spcPct val="100000"/>
              </a:lnSpc>
            </a:pP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Possible Incident caused by FOD on runways, all of which can be fatal.</a:t>
            </a:r>
          </a:p>
          <a:p>
            <a:pPr lvl="1">
              <a:lnSpc>
                <a:spcPct val="100000"/>
              </a:lnSpc>
            </a:pPr>
            <a:r>
              <a:rPr lang="en-A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Engine damage/failure can cause unsafe flight conditions.</a:t>
            </a:r>
          </a:p>
          <a:p>
            <a:pPr lvl="1">
              <a:lnSpc>
                <a:spcPct val="100000"/>
              </a:lnSpc>
            </a:pPr>
            <a:r>
              <a:rPr lang="en-A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Tire damage/blow out can cause unsafe landing and take-off conditions, causing runway overruns.</a:t>
            </a:r>
          </a:p>
          <a:p>
            <a:pPr lvl="1">
              <a:lnSpc>
                <a:spcPct val="100000"/>
              </a:lnSpc>
            </a:pPr>
            <a:r>
              <a:rPr lang="en-A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Structural damage that can cause damage to fuel tanks, hydraulic, electrical and mechanical system.</a:t>
            </a:r>
          </a:p>
          <a:p>
            <a:pPr lvl="1">
              <a:lnSpc>
                <a:spcPct val="100000"/>
              </a:lnSpc>
            </a:pPr>
            <a:r>
              <a:rPr lang="en-A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Aerodynamic damage that can affect aircraft performance.</a:t>
            </a:r>
          </a:p>
          <a:p>
            <a:pPr>
              <a:lnSpc>
                <a:spcPct val="100000"/>
              </a:lnSpc>
            </a:pP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Many studies for FOD detection using Unmanned Aerial Vehicles (UAV) have been conducted: 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UAV and AI Application for Runway Foreign Object Debris (FOD) Detection </a:t>
            </a:r>
            <a: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[9]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Live Detection of Foreign Object Debris on Runways Detection using Drones and AI </a:t>
            </a:r>
            <a: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[10]</a:t>
            </a:r>
            <a:endParaRPr lang="en-AU" sz="16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AU" sz="1600" dirty="0">
              <a:solidFill>
                <a:schemeClr val="tx1">
                  <a:lumMod val="85000"/>
                  <a:lumOff val="15000"/>
                </a:schemeClr>
              </a:solidFill>
              <a:latin typeface="Franklin Gothic Book (Body)"/>
            </a:endParaRPr>
          </a:p>
        </p:txBody>
      </p:sp>
      <p:pic>
        <p:nvPicPr>
          <p:cNvPr id="3078" name="Picture 6" descr="Singapore 747 FOD Update: Where Did It Happen?">
            <a:extLst>
              <a:ext uri="{FF2B5EF4-FFF2-40B4-BE49-F238E27FC236}">
                <a16:creationId xmlns:a16="http://schemas.microsoft.com/office/drawing/2014/main" id="{3D3524A2-FB1E-8708-0638-D8E578C59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339" y="2539912"/>
            <a:ext cx="3111661" cy="209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op 10 essential tools your tool box needs">
            <a:extLst>
              <a:ext uri="{FF2B5EF4-FFF2-40B4-BE49-F238E27FC236}">
                <a16:creationId xmlns:a16="http://schemas.microsoft.com/office/drawing/2014/main" id="{07ADC2BE-FDA0-E121-F696-1599FBCF7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1" y="2398540"/>
            <a:ext cx="3279462" cy="229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87B9CC51-C931-9C2C-764A-E1D95C1563D5}"/>
              </a:ext>
            </a:extLst>
          </p:cNvPr>
          <p:cNvSpPr/>
          <p:nvPr/>
        </p:nvSpPr>
        <p:spPr>
          <a:xfrm>
            <a:off x="8419225" y="3266953"/>
            <a:ext cx="584521" cy="641101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6" name="Camera 25">
            <a:extLst>
              <a:ext uri="{FF2B5EF4-FFF2-40B4-BE49-F238E27FC236}">
                <a16:creationId xmlns:a16="http://schemas.microsoft.com/office/drawing/2014/main" id="{892D03E8-1421-7E4A-8C92-99E04190CCB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34600" y="4800600"/>
            <a:ext cx="2057400" cy="2057400"/>
          </a:xfrm>
          <a:prstGeom prst="ellipse">
            <a:avLst/>
          </a:prstGeom>
          <a:ln w="5715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E9D7AA0-5F86-5A96-1013-2983B5F06E72}"/>
              </a:ext>
            </a:extLst>
          </p:cNvPr>
          <p:cNvSpPr txBox="1"/>
          <p:nvPr/>
        </p:nvSpPr>
        <p:spPr>
          <a:xfrm>
            <a:off x="11567483" y="6333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[5]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BAC12C-C5BE-5D28-F517-25548045332D}"/>
              </a:ext>
            </a:extLst>
          </p:cNvPr>
          <p:cNvSpPr txBox="1"/>
          <p:nvPr/>
        </p:nvSpPr>
        <p:spPr>
          <a:xfrm>
            <a:off x="7858766" y="-9131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</a:t>
            </a:r>
            <a:r>
              <a:rPr lang="en-AU" sz="2400" dirty="0">
                <a:solidFill>
                  <a:srgbClr val="00B0F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6</a:t>
            </a:r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15E3F2-8EF0-A439-D0D9-71FD892BBEFA}"/>
              </a:ext>
            </a:extLst>
          </p:cNvPr>
          <p:cNvSpPr txBox="1"/>
          <p:nvPr/>
        </p:nvSpPr>
        <p:spPr>
          <a:xfrm>
            <a:off x="7858765" y="4635097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</a:t>
            </a:r>
            <a:r>
              <a:rPr lang="en-AU" sz="2400" dirty="0">
                <a:solidFill>
                  <a:srgbClr val="00B0F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7</a:t>
            </a:r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2D20AB-00D6-56AB-1CD0-4E8C7F7D4119}"/>
              </a:ext>
            </a:extLst>
          </p:cNvPr>
          <p:cNvSpPr txBox="1"/>
          <p:nvPr/>
        </p:nvSpPr>
        <p:spPr>
          <a:xfrm>
            <a:off x="11742104" y="4569767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[8]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059316"/>
      </p:ext>
    </p:extLst>
  </p:cSld>
  <p:clrMapOvr>
    <a:masterClrMapping/>
  </p:clrMapOvr>
  <p:transition>
    <p:pull dir="l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4782-DC18-1F87-93FD-010F021C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05069"/>
          </a:xfrm>
        </p:spPr>
        <p:txBody>
          <a:bodyPr anchor="b">
            <a:normAutofit/>
          </a:bodyPr>
          <a:lstStyle/>
          <a:p>
            <a:r>
              <a:rPr lang="en-AU" sz="4800" b="1" u="sng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503D-F51B-0413-7D7B-58A6900B7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3935" y="905069"/>
            <a:ext cx="4301411" cy="5866121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bg1"/>
                </a:solidFill>
              </a:rPr>
              <a:t>Different ways of monitoring the runways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Moving UAV:</a:t>
            </a:r>
            <a:r>
              <a:rPr lang="en-AU" sz="1600" dirty="0">
                <a:solidFill>
                  <a:schemeClr val="bg1"/>
                </a:solidFill>
              </a:rPr>
              <a:t> One or Two UAVs using transmitters from UAV to tower.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Stationary Cameras: </a:t>
            </a:r>
            <a:r>
              <a:rPr lang="en-AU" sz="1600" dirty="0">
                <a:solidFill>
                  <a:schemeClr val="bg1"/>
                </a:solidFill>
              </a:rPr>
              <a:t>Many cameras setup along a runway using Fibre optic wires for transmission.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bg1"/>
                </a:solidFill>
              </a:rPr>
              <a:t>Runway conditions/weather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Sunny: </a:t>
            </a:r>
            <a:r>
              <a:rPr lang="en-AU" sz="1600" dirty="0">
                <a:solidFill>
                  <a:schemeClr val="bg1"/>
                </a:solidFill>
              </a:rPr>
              <a:t>Reflective surfaces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Overcast: </a:t>
            </a:r>
            <a:r>
              <a:rPr lang="en-AU" sz="1600" dirty="0">
                <a:solidFill>
                  <a:schemeClr val="bg1"/>
                </a:solidFill>
              </a:rPr>
              <a:t>Shaded areas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Windy: </a:t>
            </a:r>
            <a:r>
              <a:rPr lang="en-AU" sz="1600" dirty="0">
                <a:solidFill>
                  <a:schemeClr val="bg1"/>
                </a:solidFill>
              </a:rPr>
              <a:t>Effect on UAVs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Rain: E</a:t>
            </a:r>
            <a:r>
              <a:rPr lang="en-AU" sz="1600" dirty="0">
                <a:solidFill>
                  <a:schemeClr val="bg1"/>
                </a:solidFill>
              </a:rPr>
              <a:t>ffect on camera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bg1"/>
                </a:solidFill>
              </a:rPr>
              <a:t>FOD objects, size and positioning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Material: </a:t>
            </a:r>
            <a:r>
              <a:rPr lang="en-AU" sz="1600" dirty="0">
                <a:solidFill>
                  <a:schemeClr val="bg1"/>
                </a:solidFill>
              </a:rPr>
              <a:t>Wood, Metal, Plastic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Size:</a:t>
            </a:r>
            <a:r>
              <a:rPr lang="en-AU" sz="1600" dirty="0">
                <a:solidFill>
                  <a:schemeClr val="bg1"/>
                </a:solidFill>
              </a:rPr>
              <a:t> 10mm to 1000mm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Positioning:</a:t>
            </a:r>
            <a:r>
              <a:rPr lang="en-AU" sz="1600" dirty="0">
                <a:solidFill>
                  <a:schemeClr val="bg1"/>
                </a:solidFill>
              </a:rPr>
              <a:t> Clustered or Spread 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bg1"/>
                </a:solidFill>
                <a:latin typeface="Franklin Gothic Book (Body)"/>
              </a:rPr>
              <a:t>AI Models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Franklin Gothic Book (Body)"/>
              </a:rPr>
              <a:t>Multiple studies performed consider the Microsoft Azure Custom Vision the best AI Model for object detection </a:t>
            </a:r>
            <a:r>
              <a:rPr lang="en-AU" sz="1600" dirty="0">
                <a:solidFill>
                  <a:srgbClr val="00B0F0"/>
                </a:solidFill>
                <a:latin typeface="Franklin Gothic Book (Body)"/>
              </a:rPr>
              <a:t>[9] [10]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13" name="Camera 12">
            <a:extLst>
              <a:ext uri="{FF2B5EF4-FFF2-40B4-BE49-F238E27FC236}">
                <a16:creationId xmlns:a16="http://schemas.microsoft.com/office/drawing/2014/main" id="{6DD04016-5E0F-3310-E357-81B5201DEE0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4600" y="4800599"/>
            <a:ext cx="2057400" cy="2057400"/>
          </a:xfrm>
          <a:prstGeom prst="ellipse">
            <a:avLst/>
          </a:prstGeom>
          <a:ln w="57150">
            <a:solidFill>
              <a:schemeClr val="tx1"/>
            </a:solidFill>
          </a:ln>
        </p:spPr>
      </p:pic>
      <p:pic>
        <p:nvPicPr>
          <p:cNvPr id="4" name="Picture 2" descr="Airport Runway - Top View - Openclipart">
            <a:extLst>
              <a:ext uri="{FF2B5EF4-FFF2-40B4-BE49-F238E27FC236}">
                <a16:creationId xmlns:a16="http://schemas.microsoft.com/office/drawing/2014/main" id="{FEFFECE4-5278-245A-436B-A9C3BFA427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28"/>
          <a:stretch/>
        </p:blipFill>
        <p:spPr bwMode="auto">
          <a:xfrm>
            <a:off x="5134754" y="307843"/>
            <a:ext cx="6729296" cy="97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irport Runway - Top View - Openclipart">
            <a:extLst>
              <a:ext uri="{FF2B5EF4-FFF2-40B4-BE49-F238E27FC236}">
                <a16:creationId xmlns:a16="http://schemas.microsoft.com/office/drawing/2014/main" id="{05B660DE-0466-F3F2-1887-3F5F758F4C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28"/>
          <a:stretch/>
        </p:blipFill>
        <p:spPr bwMode="auto">
          <a:xfrm>
            <a:off x="5134754" y="2180152"/>
            <a:ext cx="6729296" cy="97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919D02A5-C49D-AA8B-2F0F-16141882D20F}"/>
              </a:ext>
            </a:extLst>
          </p:cNvPr>
          <p:cNvSpPr/>
          <p:nvPr/>
        </p:nvSpPr>
        <p:spPr>
          <a:xfrm>
            <a:off x="6035715" y="427949"/>
            <a:ext cx="5127585" cy="27779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BB52B3D8-EE20-DFB0-FDF1-B67436549DBC}"/>
              </a:ext>
            </a:extLst>
          </p:cNvPr>
          <p:cNvSpPr/>
          <p:nvPr/>
        </p:nvSpPr>
        <p:spPr>
          <a:xfrm rot="10800000">
            <a:off x="6035714" y="853948"/>
            <a:ext cx="5127585" cy="27779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Arrow: U-Turn 9">
            <a:extLst>
              <a:ext uri="{FF2B5EF4-FFF2-40B4-BE49-F238E27FC236}">
                <a16:creationId xmlns:a16="http://schemas.microsoft.com/office/drawing/2014/main" id="{136B925B-1117-7FD2-B1ED-21A14EA2236C}"/>
              </a:ext>
            </a:extLst>
          </p:cNvPr>
          <p:cNvSpPr/>
          <p:nvPr/>
        </p:nvSpPr>
        <p:spPr>
          <a:xfrm rot="16200000" flipH="1">
            <a:off x="5220072" y="443629"/>
            <a:ext cx="730325" cy="748138"/>
          </a:xfrm>
          <a:prstGeom prst="utur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DD08CF29-6C36-84DD-24B7-B9709D85BDA2}"/>
              </a:ext>
            </a:extLst>
          </p:cNvPr>
          <p:cNvSpPr/>
          <p:nvPr/>
        </p:nvSpPr>
        <p:spPr>
          <a:xfrm>
            <a:off x="11276477" y="531000"/>
            <a:ext cx="540000" cy="540000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DC090E-7679-FD1F-6094-CB7592FD079C}"/>
              </a:ext>
            </a:extLst>
          </p:cNvPr>
          <p:cNvSpPr/>
          <p:nvPr/>
        </p:nvSpPr>
        <p:spPr>
          <a:xfrm>
            <a:off x="6796350" y="326205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784AE3-17A9-95B7-9AB6-DB647882EBEA}"/>
              </a:ext>
            </a:extLst>
          </p:cNvPr>
          <p:cNvSpPr/>
          <p:nvPr/>
        </p:nvSpPr>
        <p:spPr>
          <a:xfrm>
            <a:off x="6006000" y="1848656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E210DE-6199-B2B2-0323-8C068F52F3F6}"/>
              </a:ext>
            </a:extLst>
          </p:cNvPr>
          <p:cNvSpPr/>
          <p:nvPr/>
        </p:nvSpPr>
        <p:spPr>
          <a:xfrm>
            <a:off x="8567869" y="326205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4BFB85-6C23-92ED-E0F2-E08FEC7E076C}"/>
              </a:ext>
            </a:extLst>
          </p:cNvPr>
          <p:cNvSpPr/>
          <p:nvPr/>
        </p:nvSpPr>
        <p:spPr>
          <a:xfrm>
            <a:off x="7666654" y="1882662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8C4554-8759-B18D-2B4B-ABB747DDD51F}"/>
              </a:ext>
            </a:extLst>
          </p:cNvPr>
          <p:cNvSpPr/>
          <p:nvPr/>
        </p:nvSpPr>
        <p:spPr>
          <a:xfrm>
            <a:off x="11096477" y="1882662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2A3606-D6FF-E693-8B29-1E9F353622C2}"/>
              </a:ext>
            </a:extLst>
          </p:cNvPr>
          <p:cNvSpPr/>
          <p:nvPr/>
        </p:nvSpPr>
        <p:spPr>
          <a:xfrm>
            <a:off x="10287551" y="3273046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D2249A-F14C-871D-AAF1-FD7556B5E0BF}"/>
              </a:ext>
            </a:extLst>
          </p:cNvPr>
          <p:cNvSpPr/>
          <p:nvPr/>
        </p:nvSpPr>
        <p:spPr>
          <a:xfrm>
            <a:off x="9435823" y="1882662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706E182-0F63-D33A-D705-335D294B8864}"/>
              </a:ext>
            </a:extLst>
          </p:cNvPr>
          <p:cNvSpPr/>
          <p:nvPr/>
        </p:nvSpPr>
        <p:spPr>
          <a:xfrm>
            <a:off x="5165516" y="1933557"/>
            <a:ext cx="1860967" cy="1217890"/>
          </a:xfrm>
          <a:prstGeom prst="triangle">
            <a:avLst/>
          </a:prstGeom>
          <a:gradFill>
            <a:gsLst>
              <a:gs pos="0">
                <a:srgbClr val="FFFF00"/>
              </a:gs>
              <a:gs pos="65000">
                <a:srgbClr val="FFFF00">
                  <a:alpha val="4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81E81E8D-533E-5BC8-5C39-122DE7BB9387}"/>
              </a:ext>
            </a:extLst>
          </p:cNvPr>
          <p:cNvSpPr/>
          <p:nvPr/>
        </p:nvSpPr>
        <p:spPr>
          <a:xfrm>
            <a:off x="6821108" y="1957089"/>
            <a:ext cx="1860967" cy="1194358"/>
          </a:xfrm>
          <a:prstGeom prst="triangle">
            <a:avLst/>
          </a:prstGeom>
          <a:gradFill>
            <a:gsLst>
              <a:gs pos="0">
                <a:srgbClr val="FFFF00"/>
              </a:gs>
              <a:gs pos="65000">
                <a:srgbClr val="FFFF00">
                  <a:alpha val="4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7A7C0735-E74B-07CD-71C3-754F6E22A543}"/>
              </a:ext>
            </a:extLst>
          </p:cNvPr>
          <p:cNvSpPr/>
          <p:nvPr/>
        </p:nvSpPr>
        <p:spPr>
          <a:xfrm>
            <a:off x="8608951" y="1968551"/>
            <a:ext cx="1860967" cy="1182895"/>
          </a:xfrm>
          <a:prstGeom prst="triangle">
            <a:avLst/>
          </a:prstGeom>
          <a:gradFill>
            <a:gsLst>
              <a:gs pos="0">
                <a:srgbClr val="FFFF00"/>
              </a:gs>
              <a:gs pos="65000">
                <a:srgbClr val="FFFF00">
                  <a:alpha val="4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B807F37-ECF2-DBE9-20D9-40EAE46C6E4F}"/>
              </a:ext>
            </a:extLst>
          </p:cNvPr>
          <p:cNvSpPr/>
          <p:nvPr/>
        </p:nvSpPr>
        <p:spPr>
          <a:xfrm>
            <a:off x="10264543" y="1958230"/>
            <a:ext cx="1860967" cy="1193215"/>
          </a:xfrm>
          <a:prstGeom prst="triangle">
            <a:avLst/>
          </a:prstGeom>
          <a:gradFill>
            <a:gsLst>
              <a:gs pos="0">
                <a:srgbClr val="FFFF00"/>
              </a:gs>
              <a:gs pos="65000">
                <a:srgbClr val="FFFF00">
                  <a:alpha val="4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1C499902-28A2-995B-E521-667076F92916}"/>
              </a:ext>
            </a:extLst>
          </p:cNvPr>
          <p:cNvSpPr/>
          <p:nvPr/>
        </p:nvSpPr>
        <p:spPr>
          <a:xfrm flipH="1" flipV="1">
            <a:off x="5978143" y="2173272"/>
            <a:ext cx="1860967" cy="1217890"/>
          </a:xfrm>
          <a:prstGeom prst="triangle">
            <a:avLst/>
          </a:prstGeom>
          <a:gradFill>
            <a:gsLst>
              <a:gs pos="0">
                <a:srgbClr val="FFFF00"/>
              </a:gs>
              <a:gs pos="65000">
                <a:srgbClr val="FFFF00">
                  <a:alpha val="4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8C746EBF-F951-9A47-337A-B53DBFEB2D24}"/>
              </a:ext>
            </a:extLst>
          </p:cNvPr>
          <p:cNvSpPr/>
          <p:nvPr/>
        </p:nvSpPr>
        <p:spPr>
          <a:xfrm flipH="1" flipV="1">
            <a:off x="7736423" y="2180152"/>
            <a:ext cx="1860967" cy="1217890"/>
          </a:xfrm>
          <a:prstGeom prst="triangle">
            <a:avLst/>
          </a:prstGeom>
          <a:gradFill>
            <a:gsLst>
              <a:gs pos="0">
                <a:srgbClr val="FFFF00"/>
              </a:gs>
              <a:gs pos="65000">
                <a:srgbClr val="FFFF00">
                  <a:alpha val="4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407E32BE-468E-4AC5-04AD-AF2B23F5A408}"/>
              </a:ext>
            </a:extLst>
          </p:cNvPr>
          <p:cNvSpPr/>
          <p:nvPr/>
        </p:nvSpPr>
        <p:spPr>
          <a:xfrm flipH="1" flipV="1">
            <a:off x="9451916" y="2180152"/>
            <a:ext cx="1860967" cy="1217890"/>
          </a:xfrm>
          <a:prstGeom prst="triangle">
            <a:avLst/>
          </a:prstGeom>
          <a:gradFill>
            <a:gsLst>
              <a:gs pos="0">
                <a:srgbClr val="FFFF00"/>
              </a:gs>
              <a:gs pos="65000">
                <a:srgbClr val="FFFF00">
                  <a:alpha val="4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146" name="Picture 2" descr="Learn Microsoft Azure Basics in 5 Minutes | by Nomad | Medium">
            <a:extLst>
              <a:ext uri="{FF2B5EF4-FFF2-40B4-BE49-F238E27FC236}">
                <a16:creationId xmlns:a16="http://schemas.microsoft.com/office/drawing/2014/main" id="{72F2C584-58EB-A984-FC11-37C84390B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680" y="4450817"/>
            <a:ext cx="3703339" cy="232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703127B-2BF9-977A-9D6B-BB40E7F8D9FE}"/>
              </a:ext>
            </a:extLst>
          </p:cNvPr>
          <p:cNvSpPr txBox="1"/>
          <p:nvPr/>
        </p:nvSpPr>
        <p:spPr>
          <a:xfrm>
            <a:off x="8242691" y="6108056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[11]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81664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11D4F21-4D13-573F-4733-47E0DB68EE31}"/>
              </a:ext>
            </a:extLst>
          </p:cNvPr>
          <p:cNvSpPr/>
          <p:nvPr/>
        </p:nvSpPr>
        <p:spPr>
          <a:xfrm>
            <a:off x="4600575" y="0"/>
            <a:ext cx="7591425" cy="70008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DD98540-C114-C357-186E-C292E0965F8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9050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8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 (Headings)"/>
              </a:rPr>
              <a:t>Resources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D358B-F5C2-E821-196F-77597EA4FF62}"/>
              </a:ext>
            </a:extLst>
          </p:cNvPr>
          <p:cNvSpPr txBox="1">
            <a:spLocks/>
          </p:cNvSpPr>
          <p:nvPr/>
        </p:nvSpPr>
        <p:spPr>
          <a:xfrm>
            <a:off x="223935" y="905069"/>
            <a:ext cx="4300439" cy="58661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AU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UAVs: </a:t>
            </a:r>
            <a:r>
              <a:rPr lang="en-AU" sz="19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[12]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DJI Spark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DJI Phantom 4 Pro (Seen on the right)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DJI Mavic Pro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Cameras: </a:t>
            </a:r>
            <a:r>
              <a:rPr lang="en-AU" sz="19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[14]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ranklin Gothic Book (Body)"/>
              </a:rPr>
              <a:t>Earth Networks: </a:t>
            </a:r>
            <a:r>
              <a:rPr lang="en-AU" sz="15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ranklin Gothic Book (Body)"/>
              </a:rPr>
              <a:t>HD Pan-Tilt-Zoom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Adaptive Recognition: Vidar (Seen on the right)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ranklin Gothic Book (Body)"/>
              </a:rPr>
              <a:t>LATECOERE: </a:t>
            </a:r>
            <a:r>
              <a:rPr lang="en-AU" sz="15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ranklin Gothic Book (Body)"/>
              </a:rPr>
              <a:t>Airport Camera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Test beds: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Car park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Runway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Objects: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Metal: Nut, bolts, screws, strips, sheets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Plastic: bottles, bucket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Wood: planks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AI Model: </a:t>
            </a:r>
            <a:r>
              <a:rPr lang="en-AU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 (Body)"/>
              </a:rPr>
              <a:t>Microsoft Azure Custom Vision</a:t>
            </a:r>
          </a:p>
        </p:txBody>
      </p:sp>
      <p:pic>
        <p:nvPicPr>
          <p:cNvPr id="26" name="Camera 25">
            <a:extLst>
              <a:ext uri="{FF2B5EF4-FFF2-40B4-BE49-F238E27FC236}">
                <a16:creationId xmlns:a16="http://schemas.microsoft.com/office/drawing/2014/main" id="{892D03E8-1421-7E4A-8C92-99E04190CCB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4600" y="4800600"/>
            <a:ext cx="2057400" cy="2057400"/>
          </a:xfrm>
          <a:prstGeom prst="ellipse">
            <a:avLst/>
          </a:prstGeom>
          <a:ln w="57150">
            <a:solidFill>
              <a:schemeClr val="tx1"/>
            </a:solidFill>
          </a:ln>
        </p:spPr>
      </p:pic>
      <p:pic>
        <p:nvPicPr>
          <p:cNvPr id="9218" name="Picture 2" descr="Vidar ANPR/LPR Camera: Intelligent License Plate Recognition | Adaptive  Recognition">
            <a:extLst>
              <a:ext uri="{FF2B5EF4-FFF2-40B4-BE49-F238E27FC236}">
                <a16:creationId xmlns:a16="http://schemas.microsoft.com/office/drawing/2014/main" id="{3B566C30-A09B-D822-01D0-8007A691D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879" y="3323779"/>
            <a:ext cx="4572721" cy="2819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white drone with a camera&#10;&#10;Description automatically generated">
            <a:extLst>
              <a:ext uri="{FF2B5EF4-FFF2-40B4-BE49-F238E27FC236}">
                <a16:creationId xmlns:a16="http://schemas.microsoft.com/office/drawing/2014/main" id="{33DC7344-A9DC-5534-0C45-0979FD97C7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74" y="93904"/>
            <a:ext cx="7591426" cy="25304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795B16-EF99-CA4E-DCE2-C86EAD2F13B4}"/>
              </a:ext>
            </a:extLst>
          </p:cNvPr>
          <p:cNvSpPr txBox="1"/>
          <p:nvPr/>
        </p:nvSpPr>
        <p:spPr>
          <a:xfrm>
            <a:off x="9124948" y="2160337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[13]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F77B7-7792-7231-3285-7BEDBCDF8AD6}"/>
              </a:ext>
            </a:extLst>
          </p:cNvPr>
          <p:cNvSpPr txBox="1"/>
          <p:nvPr/>
        </p:nvSpPr>
        <p:spPr>
          <a:xfrm>
            <a:off x="8791926" y="5912792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[15]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105507"/>
      </p:ext>
    </p:extLst>
  </p:cSld>
  <p:clrMapOvr>
    <a:masterClrMapping/>
  </p:clrMapOvr>
  <p:transition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4782-DC18-1F87-93FD-010F021C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05069"/>
          </a:xfrm>
        </p:spPr>
        <p:txBody>
          <a:bodyPr anchor="b">
            <a:normAutofit/>
          </a:bodyPr>
          <a:lstStyle/>
          <a:p>
            <a:r>
              <a:rPr lang="en-AU" sz="4800" b="1" u="sng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503D-F51B-0413-7D7B-58A6900B7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3935" y="905069"/>
            <a:ext cx="4301411" cy="586612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1900" b="1" dirty="0">
                <a:solidFill>
                  <a:schemeClr val="bg1"/>
                </a:solidFill>
              </a:rPr>
              <a:t>Aim to deliver: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bg1"/>
                </a:solidFill>
              </a:rPr>
              <a:t>Discover which concept (moving UAV or stationary cameras) is more sufficient and efficient for FOD detection.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Explore whether camera distortions caused by weather and environmental factors can still be analyzed to effectively identify FODs on runways.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900" b="1" dirty="0">
                <a:solidFill>
                  <a:schemeClr val="bg1"/>
                </a:solidFill>
              </a:rPr>
              <a:t>Final product: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bg1"/>
                </a:solidFill>
              </a:rPr>
              <a:t>By the end, the best UAV/Camera from all tested will undergo real-world testing on a runway, with different weather conditions and scenarios.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bg1"/>
                </a:solidFill>
              </a:rPr>
              <a:t>This final test will undoubtably answer the research question stated at the beginning and deliver a final product.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chemeClr val="bg1"/>
                </a:solidFill>
              </a:rPr>
              <a:t>This product would be sufficient so that human verification is not needed before a crew is sent out.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13" name="Camera 12">
            <a:extLst>
              <a:ext uri="{FF2B5EF4-FFF2-40B4-BE49-F238E27FC236}">
                <a16:creationId xmlns:a16="http://schemas.microsoft.com/office/drawing/2014/main" id="{6DD04016-5E0F-3310-E357-81B5201DEE0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4600" y="4800599"/>
            <a:ext cx="2057400" cy="2057400"/>
          </a:xfrm>
          <a:prstGeom prst="ellipse">
            <a:avLst/>
          </a:prstGeom>
          <a:ln w="57150">
            <a:solidFill>
              <a:schemeClr val="tx1"/>
            </a:solidFill>
          </a:ln>
        </p:spPr>
      </p:pic>
      <p:pic>
        <p:nvPicPr>
          <p:cNvPr id="10242" name="Picture 2" descr="8,300+ Airport Runway Top View Stock Photos, Pictures &amp; Royalty-Free Images  - iStock | Plane landing, Airport conveyor belt, Airport control tower">
            <a:extLst>
              <a:ext uri="{FF2B5EF4-FFF2-40B4-BE49-F238E27FC236}">
                <a16:creationId xmlns:a16="http://schemas.microsoft.com/office/drawing/2014/main" id="{547A9D72-8014-E5F2-D03C-565FC26AE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38676" y="1243012"/>
            <a:ext cx="582930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Tap Bolts | APAC">
            <a:extLst>
              <a:ext uri="{FF2B5EF4-FFF2-40B4-BE49-F238E27FC236}">
                <a16:creationId xmlns:a16="http://schemas.microsoft.com/office/drawing/2014/main" id="{915DA52C-F88C-6449-FC9B-68023241A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34749" y="2422020"/>
            <a:ext cx="90000" cy="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Aluminium Flat Bar - Mill Finish - Metal Mate">
            <a:extLst>
              <a:ext uri="{FF2B5EF4-FFF2-40B4-BE49-F238E27FC236}">
                <a16:creationId xmlns:a16="http://schemas.microsoft.com/office/drawing/2014/main" id="{E1B50C3D-AF09-117C-D346-255991524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236" y="1246290"/>
            <a:ext cx="209006" cy="20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Wood Tile - Classic Wood | Dark Brown | Porcelain Plank Floor">
            <a:extLst>
              <a:ext uri="{FF2B5EF4-FFF2-40B4-BE49-F238E27FC236}">
                <a16:creationId xmlns:a16="http://schemas.microsoft.com/office/drawing/2014/main" id="{D0FA5360-FB23-297C-7D26-A547EF8A2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598338" flipH="1" flipV="1">
            <a:off x="7544233" y="2838039"/>
            <a:ext cx="142131" cy="14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90E1B8AB-F9EB-2C53-EEAB-D5E473AB6EF7}"/>
              </a:ext>
            </a:extLst>
          </p:cNvPr>
          <p:cNvSpPr/>
          <p:nvPr/>
        </p:nvSpPr>
        <p:spPr>
          <a:xfrm>
            <a:off x="7745948" y="1159727"/>
            <a:ext cx="372140" cy="356839"/>
          </a:xfrm>
          <a:prstGeom prst="frame">
            <a:avLst>
              <a:gd name="adj1" fmla="val 433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EE5B3-BC59-CA6E-45FC-C853A09A8152}"/>
              </a:ext>
            </a:extLst>
          </p:cNvPr>
          <p:cNvSpPr txBox="1"/>
          <p:nvPr/>
        </p:nvSpPr>
        <p:spPr>
          <a:xfrm>
            <a:off x="7690408" y="956787"/>
            <a:ext cx="4832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FF00"/>
                </a:solidFill>
              </a:rPr>
              <a:t>FOD</a:t>
            </a: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EADC205F-A900-C3DF-292F-221666D49DBB}"/>
              </a:ext>
            </a:extLst>
          </p:cNvPr>
          <p:cNvSpPr/>
          <p:nvPr/>
        </p:nvSpPr>
        <p:spPr>
          <a:xfrm>
            <a:off x="7540187" y="2811674"/>
            <a:ext cx="150221" cy="212880"/>
          </a:xfrm>
          <a:prstGeom prst="frame">
            <a:avLst>
              <a:gd name="adj1" fmla="val 433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C8AFA7-2133-F1E4-E2D6-B675EA65A8E4}"/>
              </a:ext>
            </a:extLst>
          </p:cNvPr>
          <p:cNvSpPr txBox="1"/>
          <p:nvPr/>
        </p:nvSpPr>
        <p:spPr>
          <a:xfrm>
            <a:off x="7416479" y="2616334"/>
            <a:ext cx="4832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FF00"/>
                </a:solidFill>
              </a:rPr>
              <a:t>FOD</a:t>
            </a:r>
          </a:p>
        </p:txBody>
      </p:sp>
      <p:sp>
        <p:nvSpPr>
          <p:cNvPr id="22" name="Frame 21">
            <a:extLst>
              <a:ext uri="{FF2B5EF4-FFF2-40B4-BE49-F238E27FC236}">
                <a16:creationId xmlns:a16="http://schemas.microsoft.com/office/drawing/2014/main" id="{490585CF-9D5C-E0DE-42AD-C5BA208C63FA}"/>
              </a:ext>
            </a:extLst>
          </p:cNvPr>
          <p:cNvSpPr/>
          <p:nvPr/>
        </p:nvSpPr>
        <p:spPr>
          <a:xfrm>
            <a:off x="6702829" y="2385753"/>
            <a:ext cx="157516" cy="166835"/>
          </a:xfrm>
          <a:prstGeom prst="frame">
            <a:avLst>
              <a:gd name="adj1" fmla="val 433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DAD5D4-506C-0C12-CD45-CF52C7EB4B43}"/>
              </a:ext>
            </a:extLst>
          </p:cNvPr>
          <p:cNvSpPr txBox="1"/>
          <p:nvPr/>
        </p:nvSpPr>
        <p:spPr>
          <a:xfrm>
            <a:off x="6583139" y="2175799"/>
            <a:ext cx="4832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FF00"/>
                </a:solidFill>
              </a:rPr>
              <a:t>FOD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1F217-CD24-BAA4-7A6A-802AB15AB027}"/>
              </a:ext>
            </a:extLst>
          </p:cNvPr>
          <p:cNvSpPr txBox="1"/>
          <p:nvPr/>
        </p:nvSpPr>
        <p:spPr>
          <a:xfrm>
            <a:off x="9124245" y="5881985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[16]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6434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7" grpId="0" animBg="1"/>
      <p:bldP spid="21" grpId="0"/>
      <p:bldP spid="22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DD98540-C114-C357-186E-C292E0965F8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9050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8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 (Headings)"/>
              </a:rPr>
              <a:t>Conclusion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D358B-F5C2-E821-196F-77597EA4FF62}"/>
              </a:ext>
            </a:extLst>
          </p:cNvPr>
          <p:cNvSpPr txBox="1">
            <a:spLocks/>
          </p:cNvSpPr>
          <p:nvPr/>
        </p:nvSpPr>
        <p:spPr>
          <a:xfrm>
            <a:off x="223935" y="905069"/>
            <a:ext cx="4867354" cy="58661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AU" sz="2000" b="1" dirty="0"/>
              <a:t>This presentation has: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Introduced FOD and object detection using AI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Given reasons and explanations why this problem needs to be researched further.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Presented methods to test different factors of the concepts proposed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Indicated the number of resources required to undertake testing the concepts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Predicted outcomes from testing the design concepts</a:t>
            </a:r>
            <a:endParaRPr lang="en-AU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b="1" dirty="0"/>
              <a:t>In conclusion, this proposed design shall exceed the design concept before it and make air travel a safer experience.</a:t>
            </a:r>
            <a:endParaRPr lang="en-AU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AU" sz="2000" dirty="0"/>
          </a:p>
        </p:txBody>
      </p:sp>
      <p:pic>
        <p:nvPicPr>
          <p:cNvPr id="26" name="Camera 25">
            <a:extLst>
              <a:ext uri="{FF2B5EF4-FFF2-40B4-BE49-F238E27FC236}">
                <a16:creationId xmlns:a16="http://schemas.microsoft.com/office/drawing/2014/main" id="{892D03E8-1421-7E4A-8C92-99E04190CCB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4600" y="4800600"/>
            <a:ext cx="2057400" cy="2057400"/>
          </a:xfrm>
          <a:prstGeom prst="ellipse">
            <a:avLst/>
          </a:prstGeom>
          <a:ln w="57150">
            <a:solidFill>
              <a:schemeClr val="tx1"/>
            </a:solidFill>
          </a:ln>
        </p:spPr>
      </p:pic>
      <p:pic>
        <p:nvPicPr>
          <p:cNvPr id="13318" name="Picture 6" descr="Air New Zealand shows off stunning, all-black Dreamliner | CNN">
            <a:extLst>
              <a:ext uri="{FF2B5EF4-FFF2-40B4-BE49-F238E27FC236}">
                <a16:creationId xmlns:a16="http://schemas.microsoft.com/office/drawing/2014/main" id="{9CF4DF94-8B50-F61A-3AB6-BDD4D902C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890" y="160058"/>
            <a:ext cx="6436510" cy="4536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550F7-3A25-FC0F-605E-353684B213E7}"/>
              </a:ext>
            </a:extLst>
          </p:cNvPr>
          <p:cNvSpPr txBox="1"/>
          <p:nvPr/>
        </p:nvSpPr>
        <p:spPr>
          <a:xfrm>
            <a:off x="11462887" y="4235141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[17]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103838"/>
      </p:ext>
    </p:extLst>
  </p:cSld>
  <p:clrMapOvr>
    <a:masterClrMapping/>
  </p:clrMapOvr>
  <p:transition>
    <p:push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0480-5DC9-E472-2E71-FFC5D725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105981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AU" sz="6400" dirty="0"/>
              <a:t>Thank You for Listening</a:t>
            </a:r>
          </a:p>
        </p:txBody>
      </p:sp>
      <p:pic>
        <p:nvPicPr>
          <p:cNvPr id="11266" name="Picture 2" descr="FOD-poster-pickitup-style2-22×28 – (Fod) Signs Prevent Foreign Object Debris">
            <a:extLst>
              <a:ext uri="{FF2B5EF4-FFF2-40B4-BE49-F238E27FC236}">
                <a16:creationId xmlns:a16="http://schemas.microsoft.com/office/drawing/2014/main" id="{9C8EFB61-C1EE-4826-96B5-4676DE01F8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6283" y="1812078"/>
            <a:ext cx="11759431" cy="3233844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amera 3">
            <a:extLst>
              <a:ext uri="{FF2B5EF4-FFF2-40B4-BE49-F238E27FC236}">
                <a16:creationId xmlns:a16="http://schemas.microsoft.com/office/drawing/2014/main" id="{CC06FA2E-6D00-071C-7603-F7471C607AE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4600" y="4801327"/>
            <a:ext cx="2057400" cy="2057400"/>
          </a:xfrm>
          <a:prstGeom prst="ellipse">
            <a:avLst/>
          </a:prstGeom>
          <a:ln w="571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EB76AE-D2B2-69B8-EFDA-1264C565EDBB}"/>
              </a:ext>
            </a:extLst>
          </p:cNvPr>
          <p:cNvSpPr txBox="1"/>
          <p:nvPr/>
        </p:nvSpPr>
        <p:spPr>
          <a:xfrm>
            <a:off x="321732" y="4584257"/>
            <a:ext cx="101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[18]</a:t>
            </a:r>
            <a:endParaRPr lang="en-AU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94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15FD8-F581-B24A-0469-2E81943AF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44" y="1207911"/>
            <a:ext cx="12033954" cy="5650089"/>
          </a:xfrm>
          <a:solidFill>
            <a:schemeClr val="bg1"/>
          </a:solidFill>
        </p:spPr>
        <p:txBody>
          <a:bodyPr numCol="2"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Qantas, “Airbus A380,” Qantas, [Online]. Available: https://www.qantas.com/au/en/about-us/our-company/fleet/qantas-a380.html. [Accessed 17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A. Green, “FOD- Foreign Object Debris/ Damage,” LinkedIn, 20 November 2019. [Online]. Available: https://www.linkedin.com/pulse/fod-foreign-object-debris-damage-andrew-green. [Accessed 18 September 2024].</a:t>
            </a:r>
            <a:endParaRPr lang="en-AU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L. Oz, “17 Interesting Applications of Object Detection for Businesses,”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alwaysAI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15 June 2022. [Online]. Available: https://alwaysai.co/blog/object-detection-for-businesses. [Accessed 17 September 2024].</a:t>
            </a:r>
            <a:endParaRPr lang="en-AU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INSIGHT SRI Ltd, “The Economic Cost of FOD to Airlines,” in </a:t>
            </a:r>
            <a:r>
              <a:rPr lang="en-AU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INSIGHT SRI Ltd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London, UK, 2008. </a:t>
            </a:r>
            <a:endParaRPr lang="en-AU" sz="18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T. Sato, “File:Concorde Air France Flight 4590 fire on runway.jpg,” Wikipedia, 25 July 2000. [Online]. Available: https://en.wikipedia.org/wiki/File:Concorde_Air_France_Flight_4590_fire_on_runway.jpg. [Accessed 18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M.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Sinyi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Director, </a:t>
            </a:r>
            <a:r>
              <a:rPr lang="en-AU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Air Crash Investigation Season 14, Episode 7: Concorde - Up in Flames. 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[Film]. USA: Cineflix, 2016. </a:t>
            </a:r>
            <a:endParaRPr lang="en-AU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Owatrol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“10 Essential tools your toolbox needs,”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Owatrol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29 September 2020. [Online]. Available: https://www.owatrolusa.com/decorating/essential-tools-for-toolbox/. [Accessed 18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S.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Georgilidakis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“Singapore 747 FOD Update: Where Did It Happen?,”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Mentour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Pilot, 02 March 2021. [Online]. Available: https://mentourpilot.com/singapore-747-fod-update-where-did-it-happen/. [Accessed 19 September 2024].</a:t>
            </a:r>
            <a:endParaRPr lang="en-AU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E. Papadopoulos and F. Gonzalez, “UAV and AI Application for Runway Foreign,” in </a:t>
            </a:r>
            <a:r>
              <a:rPr lang="en-AU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IEEE Aerospace Conference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Big Sky, Montana, USA, 2021.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A. Parker, F. Gonzalez and P. Trotter, “Live Detection of Foreign Object Debris on Runways,” in </a:t>
            </a:r>
            <a:r>
              <a:rPr lang="en-AU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IEEE Aerospace Conference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Big Sky, Montana, USA, 2022.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Nomad, “Learn Microsoft Azure Basics in 5 Minutes,” Medium, 04 July 2023. [Online]. Available: https://medium.com/@nomadworld/learn-microsoft-azure-basics-in-5-minutes-29d8ead22202. [Accessed 19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DJI, “Camera Drones,” DJI, [Online]. Available: https://www.dji.com/au/camera-drones. [Accessed 19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DJI, “Phantom 4 Pro V2.0,” DJI, [Online]. Available: https://www.dji.com/au/phantom-4-pro-v2. [Accessed 20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AeroEXPO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“Airport Cameras,”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AeroEXPO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[Online]. Available: https://www.aeroexpo.online/aeronautic-manufacturer/airport-camera-443.html. [Accessed 19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Adaptaive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Recognition, “VIDAR ANPR/LPR Camera,”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Adaptaive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Recognition, [Online]. Available: https://adaptiverecognition.com/products/vidar-anpr-camera/. [Accessed 20 September 2024].</a:t>
            </a:r>
            <a:endParaRPr lang="en-AU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istock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“Aerial drone photo of air planes as seen from above docked in airport space stock photo,”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istock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23 November 2020. [Online]. Available: https://www.istockphoto.com/photo/aerial-drone-photo-of-air-planes-as-seen-from-above-docked-in-airport-space-gm1285519123-382330522. [Accessed 20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J.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Durston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“Air New Zealand shows off stunning, all-black Dreamliner,” CNN, 09 July 2014. [Online]. Available: https://edition.cnn.com/travel/article/air-new-zealand-787-9-dreamliner/index.html. [Accessed 20 September 2024].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FODsigns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“FOD-poster-pickitup-style2-22×28,”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FODsigns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22 September 2014. [Online]. Available: https://fodsigns.wordpress.com/portfolio/fod-signage/fod-poster-pickitup-style2-22x28/. [Accessed 20 September 2024].</a:t>
            </a:r>
            <a:endParaRPr lang="en-AU" b="1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26A09E4-0C71-5261-D926-4CAE6BB60C8C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9050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8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 (Headings)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591437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>
        <p15:prstTrans prst="crush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1643</TotalTime>
  <Words>1412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Bookman Old Style</vt:lpstr>
      <vt:lpstr>Bookman Old Style (Headings)</vt:lpstr>
      <vt:lpstr>Calibri</vt:lpstr>
      <vt:lpstr>Franklin Gothic Book</vt:lpstr>
      <vt:lpstr>Franklin Gothic Book (Body)</vt:lpstr>
      <vt:lpstr>Custom</vt:lpstr>
      <vt:lpstr>Office Theme</vt:lpstr>
      <vt:lpstr>Foreign Object Debris Detection on Runways using Artificial Intelligence</vt:lpstr>
      <vt:lpstr>Introduction</vt:lpstr>
      <vt:lpstr>PowerPoint Presentation</vt:lpstr>
      <vt:lpstr>Methods</vt:lpstr>
      <vt:lpstr>PowerPoint Presentation</vt:lpstr>
      <vt:lpstr>Outcomes</vt:lpstr>
      <vt:lpstr>PowerPoint Presentation</vt:lpstr>
      <vt:lpstr>Thank You for Listening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Rory Blair</dc:creator>
  <cp:lastModifiedBy>Rory Blair</cp:lastModifiedBy>
  <cp:revision>6</cp:revision>
  <dcterms:created xsi:type="dcterms:W3CDTF">2024-09-19T09:39:25Z</dcterms:created>
  <dcterms:modified xsi:type="dcterms:W3CDTF">2024-09-20T13:02:32Z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