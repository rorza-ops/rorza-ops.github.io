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2"/>
    <p:sldId id="268" r:id="rId3"/>
    <p:sldId id="258" r:id="rId4"/>
    <p:sldId id="259" r:id="rId5"/>
    <p:sldId id="271" r:id="rId6"/>
    <p:sldId id="264" r:id="rId7"/>
    <p:sldId id="265" r:id="rId8"/>
    <p:sldId id="26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DF2380-92DD-63B5-B70B-1679F647108D}" v="30" dt="2025-05-28T22:27:12.031"/>
    <p1510:client id="{1F04A6F1-12B3-7F90-94F0-C4256DFD9535}" v="20" dt="2025-05-28T06:36:00.643"/>
    <p1510:client id="{2761F625-E913-4FEE-9789-496A927ADB07}" v="826" dt="2025-05-28T23:09:03.583"/>
    <p1510:client id="{284E6B1A-351C-94C3-507B-A1070951347E}" v="31" dt="2025-05-28T21:28:49.198"/>
    <p1510:client id="{42F780A0-7068-C65A-7A1D-B000F771D8E1}" v="398" dt="2025-05-28T22:49:09.871"/>
    <p1510:client id="{51040178-3A4B-902A-C705-8A27B6A63567}" v="138" dt="2025-05-28T13:00:49.647"/>
    <p1510:client id="{5D2A7430-1136-CC5C-A4B5-4CF5F5CEAE8E}" v="22" dt="2025-05-28T00:00:22.388"/>
    <p1510:client id="{743554F1-FF68-BD45-925A-2D758239130A}" v="170" dt="2025-05-28T23:10:47.144"/>
    <p1510:client id="{8958F683-71A9-E699-3377-322F0C123C92}" v="44" dt="2025-05-28T23:04:03.382"/>
    <p1510:client id="{F9BAAB10-6E78-7828-2286-3611C2E72031}" v="1537" dt="2025-05-28T22:55:53.5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138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6516C2-8D9E-4873-BBEB-4E4F54460B1D}" type="datetimeFigureOut">
              <a:rPr lang="en-AU" smtClean="0"/>
              <a:t>29/05/2025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6420E1-39B8-40CF-830C-A56639F7D7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84401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420E1-39B8-40CF-830C-A56639F7D7DA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2896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6E61B563-A4B2-5783-81AF-A2A053D747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5352229"/>
            <a:ext cx="12192000" cy="1519356"/>
            <a:chOff x="0" y="-29768"/>
            <a:chExt cx="12202174" cy="1519356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0633BBC-8C60-7DC4-F0CC-CE32251096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CC98078-F2A2-725C-ED61-320B63B695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289101" y="-1429602"/>
              <a:ext cx="1507122" cy="4319024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1CD4C03-24F0-57A9-530E-8F2ABABDC5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880884" y="-2910652"/>
              <a:ext cx="1519356" cy="7281123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  <a:alpha val="70000"/>
                  </a:schemeClr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5599464"/>
            <a:ext cx="8708984" cy="924413"/>
          </a:xfrm>
        </p:spPr>
        <p:txBody>
          <a:bodyPr anchor="ctr">
            <a:normAutofit/>
          </a:bodyPr>
          <a:lstStyle/>
          <a:p>
            <a:pPr algn="l"/>
            <a:r>
              <a:rPr lang="en-US" sz="3200">
                <a:solidFill>
                  <a:srgbClr val="FFFFFF"/>
                </a:solidFill>
              </a:rPr>
              <a:t>EGH456  Electrical Vehicle Control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762226" y="5600706"/>
            <a:ext cx="3553475" cy="934080"/>
          </a:xfrm>
        </p:spPr>
        <p:txBody>
          <a:bodyPr anchor="ctr">
            <a:normAutofit/>
          </a:bodyPr>
          <a:lstStyle/>
          <a:p>
            <a:pPr algn="r"/>
            <a:r>
              <a:rPr lang="en-US" sz="1800">
                <a:solidFill>
                  <a:srgbClr val="FFFFFF"/>
                </a:solidFill>
              </a:rPr>
              <a:t>BY GROUP 16</a:t>
            </a:r>
          </a:p>
        </p:txBody>
      </p:sp>
      <p:pic>
        <p:nvPicPr>
          <p:cNvPr id="5" name="Picture 4" descr="Alijah Arenas hospitalized in LA Cybertruck crash – NBC Los Angeles">
            <a:extLst>
              <a:ext uri="{FF2B5EF4-FFF2-40B4-BE49-F238E27FC236}">
                <a16:creationId xmlns:a16="http://schemas.microsoft.com/office/drawing/2014/main" id="{1D6BC3A6-A69F-DA1A-9226-D2904A3667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19" y="15985"/>
            <a:ext cx="12192000" cy="5343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179A98-A49D-CCE9-9A79-A72DA5B8B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1E701E6C-0879-EE8D-AE21-7DC503AB6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5" y="2781"/>
            <a:ext cx="4639848" cy="2355811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6000" dirty="0"/>
              <a:t>Overview and Objective (Rory)</a:t>
            </a:r>
            <a:endParaRPr lang="en-US" sz="6000" kern="12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7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D99C15-41B1-524D-C518-75122FFB81DA}"/>
              </a:ext>
            </a:extLst>
          </p:cNvPr>
          <p:cNvSpPr txBox="1"/>
          <p:nvPr/>
        </p:nvSpPr>
        <p:spPr>
          <a:xfrm>
            <a:off x="-5803" y="2588003"/>
            <a:ext cx="4660724" cy="4266656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300" b="1" dirty="0"/>
              <a:t>Context:</a:t>
            </a:r>
            <a:endParaRPr lang="en-US" sz="13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/>
              <a:t>Growing demand for Battery-electric and hybrid-electric vehicles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/>
              <a:t>A shift towards electric and autonomous electric vehicle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300" b="1" dirty="0"/>
              <a:t>Objective:</a:t>
            </a:r>
            <a:endParaRPr lang="en-US" sz="13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/>
              <a:t>As embedded system engineers, we were required </a:t>
            </a:r>
            <a:r>
              <a:rPr lang="en-US" sz="1300" err="1"/>
              <a:t>developembedded</a:t>
            </a:r>
            <a:r>
              <a:rPr lang="en-US" sz="1300" dirty="0"/>
              <a:t> software for 3 subsystem: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/>
              <a:t>Motor Control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/>
              <a:t>Real-Time Sensing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/>
              <a:t>User Interface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/>
              <a:t>To achieve the objectives, a Simulated Testing Station </a:t>
            </a:r>
            <a:r>
              <a:rPr lang="en-US" sz="1300" err="1"/>
              <a:t>wasprovided</a:t>
            </a:r>
            <a:r>
              <a:rPr lang="en-US" sz="1300" dirty="0"/>
              <a:t>, which included the following (only </a:t>
            </a:r>
            <a:r>
              <a:rPr lang="en-US" sz="1300" err="1"/>
              <a:t>usedcomponents</a:t>
            </a:r>
            <a:r>
              <a:rPr lang="en-US" sz="1300" dirty="0"/>
              <a:t>):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/>
              <a:t>TM4C1294NCPDT microcontroller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/>
              <a:t>BOOSTXL-DRV8323RH Motor control Launchpad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/>
              <a:t>BOOSTXL-Sensor breakout board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/>
              <a:t>Touch Screen Panel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3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300" dirty="0"/>
          </a:p>
        </p:txBody>
      </p:sp>
      <p:pic>
        <p:nvPicPr>
          <p:cNvPr id="7" name="Picture 6" descr="A diagram of a circuit board&#10;&#10;AI-generated content may be incorrect.">
            <a:extLst>
              <a:ext uri="{FF2B5EF4-FFF2-40B4-BE49-F238E27FC236}">
                <a16:creationId xmlns:a16="http://schemas.microsoft.com/office/drawing/2014/main" id="{676A433A-55F4-DFD4-7DDC-8FF68F30F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723120"/>
            <a:ext cx="7540459" cy="3829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370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9C5D9B-8C6A-E7CC-7198-CADFEB0C2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9BB990-4D6A-862E-7C2A-7A81FDBBD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470" y="3141174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Motor (Joel)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 descr="A pink sign with black text&#10;&#10;AI-generated content may be incorrect.">
            <a:extLst>
              <a:ext uri="{FF2B5EF4-FFF2-40B4-BE49-F238E27FC236}">
                <a16:creationId xmlns:a16="http://schemas.microsoft.com/office/drawing/2014/main" id="{B391D1BC-83E6-C792-8AE1-7EC1C04307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442" y="362638"/>
            <a:ext cx="4133358" cy="1840625"/>
          </a:xfrm>
          <a:prstGeom prst="rect">
            <a:avLst/>
          </a:prstGeom>
        </p:spPr>
      </p:pic>
      <p:pic>
        <p:nvPicPr>
          <p:cNvPr id="4" name="Picture 3" descr="A white rectangular sign with black text&#10;&#10;AI-generated content may be incorrect.">
            <a:extLst>
              <a:ext uri="{FF2B5EF4-FFF2-40B4-BE49-F238E27FC236}">
                <a16:creationId xmlns:a16="http://schemas.microsoft.com/office/drawing/2014/main" id="{330AA0A8-EB6D-F62A-7DEB-DCB19C27EE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4999" y="2402825"/>
            <a:ext cx="3928243" cy="1838162"/>
          </a:xfrm>
          <a:prstGeom prst="rect">
            <a:avLst/>
          </a:prstGeom>
        </p:spPr>
      </p:pic>
      <p:pic>
        <p:nvPicPr>
          <p:cNvPr id="5" name="Picture 4" descr="A diagram of a machine&#10;&#10;AI-generated content may be incorrect.">
            <a:extLst>
              <a:ext uri="{FF2B5EF4-FFF2-40B4-BE49-F238E27FC236}">
                <a16:creationId xmlns:a16="http://schemas.microsoft.com/office/drawing/2014/main" id="{9D8E0D1D-70C2-A20B-7F0B-E56763B966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469" y="480430"/>
            <a:ext cx="5459575" cy="47087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80C4023-60F5-34F2-3B13-72CF69606B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8970" y="4546920"/>
            <a:ext cx="4940300" cy="1905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80527E3-D35C-7D52-5B41-A9371D4E20EE}"/>
              </a:ext>
            </a:extLst>
          </p:cNvPr>
          <p:cNvSpPr txBox="1"/>
          <p:nvPr/>
        </p:nvSpPr>
        <p:spPr>
          <a:xfrm>
            <a:off x="2213263" y="3141174"/>
            <a:ext cx="10099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>
                <a:latin typeface="Aptos Light" panose="020B0004020202020204" pitchFamily="34" charset="0"/>
              </a:rPr>
              <a:t>RPM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D1E88B-B64D-4569-696F-626BB7E5EBCE}"/>
              </a:ext>
            </a:extLst>
          </p:cNvPr>
          <p:cNvSpPr txBox="1"/>
          <p:nvPr/>
        </p:nvSpPr>
        <p:spPr>
          <a:xfrm>
            <a:off x="2213263" y="1864709"/>
            <a:ext cx="24191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>
                <a:latin typeface="Aptos Light" panose="020B0004020202020204" pitchFamily="34" charset="0"/>
              </a:rPr>
              <a:t>Hall Interrupts Count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2977D9-293E-0EB1-5238-91B95C5BF283}"/>
              </a:ext>
            </a:extLst>
          </p:cNvPr>
          <p:cNvSpPr txBox="1"/>
          <p:nvPr/>
        </p:nvSpPr>
        <p:spPr>
          <a:xfrm>
            <a:off x="2224876" y="4227670"/>
            <a:ext cx="32615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>
                <a:latin typeface="Aptos Light" panose="020B0004020202020204" pitchFamily="34" charset="0"/>
              </a:rPr>
              <a:t>Duty Value Increment/Decrement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5670B8A-D590-D4D2-A93B-6C2ED586C9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390832"/>
            <a:ext cx="978425" cy="1007778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C68E8DB-9419-503B-B3A6-EE6CF7927862}"/>
              </a:ext>
            </a:extLst>
          </p:cNvPr>
          <p:cNvCxnSpPr/>
          <p:nvPr/>
        </p:nvCxnSpPr>
        <p:spPr>
          <a:xfrm>
            <a:off x="978425" y="3894721"/>
            <a:ext cx="37031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61AC9BB-B132-12B0-BA70-DAC1CA70B20A}"/>
              </a:ext>
            </a:extLst>
          </p:cNvPr>
          <p:cNvSpPr txBox="1"/>
          <p:nvPr/>
        </p:nvSpPr>
        <p:spPr>
          <a:xfrm>
            <a:off x="567271" y="3952412"/>
            <a:ext cx="978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Aptos Light" panose="020B0004020202020204" pitchFamily="34" charset="0"/>
              </a:rPr>
              <a:t>Desired</a:t>
            </a:r>
          </a:p>
          <a:p>
            <a:pPr algn="ctr"/>
            <a:r>
              <a:rPr lang="en-US" sz="1200" b="1">
                <a:latin typeface="Aptos Light" panose="020B0004020202020204" pitchFamily="34" charset="0"/>
              </a:rPr>
              <a:t>RPM = 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E21670-713A-64CA-C8FD-33BDD07BFE74}"/>
              </a:ext>
            </a:extLst>
          </p:cNvPr>
          <p:cNvSpPr txBox="1"/>
          <p:nvPr/>
        </p:nvSpPr>
        <p:spPr>
          <a:xfrm>
            <a:off x="497395" y="3141174"/>
            <a:ext cx="1118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err="1">
                <a:latin typeface="Aptos Light" panose="020B0004020202020204" pitchFamily="34" charset="0"/>
              </a:rPr>
              <a:t>AccelStep</a:t>
            </a:r>
            <a:r>
              <a:rPr lang="en-US" sz="1200" b="1">
                <a:latin typeface="Aptos Light" panose="020B0004020202020204" pitchFamily="34" charset="0"/>
              </a:rPr>
              <a:t> </a:t>
            </a:r>
          </a:p>
          <a:p>
            <a:pPr algn="ctr"/>
            <a:r>
              <a:rPr lang="en-US" sz="1200" b="1">
                <a:latin typeface="Aptos Light" panose="020B0004020202020204" pitchFamily="34" charset="0"/>
              </a:rPr>
              <a:t>= 1000</a:t>
            </a:r>
          </a:p>
          <a:p>
            <a:pPr algn="ctr"/>
            <a:r>
              <a:rPr lang="en-US" sz="1200" b="1">
                <a:latin typeface="Aptos Light" panose="020B0004020202020204" pitchFamily="34" charset="0"/>
              </a:rPr>
              <a:t>RPM/s</a:t>
            </a:r>
          </a:p>
        </p:txBody>
      </p:sp>
    </p:spTree>
    <p:extLst>
      <p:ext uri="{BB962C8B-B14F-4D97-AF65-F5344CB8AC3E}">
        <p14:creationId xmlns:p14="http://schemas.microsoft.com/office/powerpoint/2010/main" val="14032009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D5368E-B97E-FAEF-FA6A-2C0FBFD54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CD1052-F455-7F53-893B-DBBAA1A8C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899" y="-58113"/>
            <a:ext cx="5872146" cy="755741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3200" dirty="0"/>
              <a:t>Motor Rpm and Power Sensing (Ben)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8991E8-78B9-A81C-9588-DAEF59ED80FD}"/>
              </a:ext>
            </a:extLst>
          </p:cNvPr>
          <p:cNvSpPr txBox="1"/>
          <p:nvPr/>
        </p:nvSpPr>
        <p:spPr>
          <a:xfrm>
            <a:off x="221086" y="4193648"/>
            <a:ext cx="4491609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u="sng">
                <a:ea typeface="+mn-lt"/>
                <a:cs typeface="+mn-lt"/>
              </a:rPr>
              <a:t>Power Sensing</a:t>
            </a:r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Inputs:</a:t>
            </a:r>
            <a:r>
              <a:rPr lang="en-US">
                <a:ea typeface="+mn-lt"/>
                <a:cs typeface="+mn-lt"/>
              </a:rPr>
              <a:t> Phase B (PD2), Phase C (PE3)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Sampling Rate:</a:t>
            </a:r>
            <a:r>
              <a:rPr lang="en-US">
                <a:ea typeface="+mn-lt"/>
                <a:cs typeface="+mn-lt"/>
              </a:rPr>
              <a:t> Every 6.64 </a:t>
            </a:r>
            <a:r>
              <a:rPr lang="en-US" err="1">
                <a:ea typeface="+mn-lt"/>
                <a:cs typeface="+mn-lt"/>
              </a:rPr>
              <a:t>ms</a:t>
            </a:r>
            <a:r>
              <a:rPr lang="en-US">
                <a:ea typeface="+mn-lt"/>
                <a:cs typeface="+mn-lt"/>
              </a:rPr>
              <a:t> (150Hz)</a:t>
            </a:r>
            <a:endParaRPr lang="en-US" err="1"/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Filtering:</a:t>
            </a:r>
            <a:r>
              <a:rPr lang="en-US">
                <a:ea typeface="+mn-lt"/>
                <a:cs typeface="+mn-lt"/>
              </a:rPr>
              <a:t> Sliding average (10 samples)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Output:</a:t>
            </a:r>
            <a:r>
              <a:rPr lang="en-US">
                <a:ea typeface="+mn-lt"/>
                <a:cs typeface="+mn-lt"/>
              </a:rPr>
              <a:t> Total current and estimated power (based on Vref 24V)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Safety Feature:</a:t>
            </a:r>
            <a:r>
              <a:rPr lang="en-US">
                <a:ea typeface="+mn-lt"/>
                <a:cs typeface="+mn-lt"/>
              </a:rPr>
              <a:t> Overcurrent detection triggers E-stop</a:t>
            </a:r>
            <a:endParaRPr lang="en-US"/>
          </a:p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A44613-EA83-C013-7449-E51E1C418B89}"/>
              </a:ext>
            </a:extLst>
          </p:cNvPr>
          <p:cNvSpPr txBox="1"/>
          <p:nvPr/>
        </p:nvSpPr>
        <p:spPr>
          <a:xfrm>
            <a:off x="6198413" y="4193647"/>
            <a:ext cx="5428494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u="sng">
                <a:ea typeface="+mn-lt"/>
                <a:cs typeface="+mn-lt"/>
              </a:rPr>
              <a:t>Speed(rpm) Sensing</a:t>
            </a:r>
          </a:p>
          <a:p>
            <a:pPr>
              <a:buFont typeface="Arial"/>
              <a:buChar char="•"/>
            </a:pPr>
            <a:r>
              <a:rPr lang="en-US" b="1"/>
              <a:t>Speed Sensing Highlights</a:t>
            </a:r>
            <a:endParaRPr lang="en-US"/>
          </a:p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Inputs:</a:t>
            </a:r>
            <a:r>
              <a:rPr lang="en-US">
                <a:ea typeface="+mn-lt"/>
                <a:cs typeface="+mn-lt"/>
              </a:rPr>
              <a:t> Hall A (PM3), Hall B (PH2), Hall C (PN2)</a:t>
            </a:r>
            <a:endParaRPr lang="en-US"/>
          </a:p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Sampling Rate:</a:t>
            </a:r>
            <a:r>
              <a:rPr lang="en-US">
                <a:ea typeface="+mn-lt"/>
                <a:cs typeface="+mn-lt"/>
              </a:rPr>
              <a:t> Every 10 </a:t>
            </a:r>
            <a:r>
              <a:rPr lang="en-US" err="1">
                <a:ea typeface="+mn-lt"/>
                <a:cs typeface="+mn-lt"/>
              </a:rPr>
              <a:t>ms</a:t>
            </a:r>
            <a:r>
              <a:rPr lang="en-US">
                <a:ea typeface="+mn-lt"/>
                <a:cs typeface="+mn-lt"/>
              </a:rPr>
              <a:t> via Timer3A</a:t>
            </a:r>
            <a:endParaRPr lang="en-US"/>
          </a:p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Filtering:</a:t>
            </a:r>
            <a:r>
              <a:rPr lang="en-US">
                <a:ea typeface="+mn-lt"/>
                <a:cs typeface="+mn-lt"/>
              </a:rPr>
              <a:t> Circular buffer for smoothing RPM</a:t>
            </a:r>
            <a:endParaRPr lang="en-US"/>
          </a:p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Control:</a:t>
            </a:r>
            <a:r>
              <a:rPr lang="en-US">
                <a:ea typeface="+mn-lt"/>
                <a:cs typeface="+mn-lt"/>
              </a:rPr>
              <a:t> Adjusts duty cycle to match target RPM</a:t>
            </a:r>
            <a:endParaRPr lang="en-US"/>
          </a:p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E-stop Response:</a:t>
            </a:r>
            <a:r>
              <a:rPr lang="en-US">
                <a:ea typeface="+mn-lt"/>
                <a:cs typeface="+mn-lt"/>
              </a:rPr>
              <a:t> Smooth deceleration when triggered</a:t>
            </a:r>
            <a:endParaRPr lang="en-US"/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algn="l"/>
            <a:endParaRPr lang="en-US"/>
          </a:p>
        </p:txBody>
      </p:sp>
      <p:pic>
        <p:nvPicPr>
          <p:cNvPr id="7" name="Picture 6" descr="A diagram of a sensor&#10;&#10;AI-generated content may be incorrect.">
            <a:extLst>
              <a:ext uri="{FF2B5EF4-FFF2-40B4-BE49-F238E27FC236}">
                <a16:creationId xmlns:a16="http://schemas.microsoft.com/office/drawing/2014/main" id="{BC7D86B3-DBE5-9C98-6F1F-2C3C48710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385" y="730771"/>
            <a:ext cx="4509541" cy="304175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F802D57-EB37-FE33-7529-2CDAC6E7399F}"/>
              </a:ext>
            </a:extLst>
          </p:cNvPr>
          <p:cNvSpPr txBox="1"/>
          <p:nvPr/>
        </p:nvSpPr>
        <p:spPr>
          <a:xfrm>
            <a:off x="5878912" y="2088522"/>
            <a:ext cx="1071984" cy="71508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/>
              <a:t>Hall Sensors</a:t>
            </a:r>
            <a:br>
              <a:rPr lang="en-US" sz="1200"/>
            </a:br>
            <a:r>
              <a:rPr lang="en-US" sz="1200"/>
              <a:t>A, B, </a:t>
            </a:r>
            <a:r>
              <a:rPr lang="en-US" sz="1200">
                <a:ea typeface="+mn-lt"/>
                <a:cs typeface="+mn-lt"/>
              </a:rPr>
              <a:t>C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6A6E86-E15F-D048-1F28-08BD72DB73A6}"/>
              </a:ext>
            </a:extLst>
          </p:cNvPr>
          <p:cNvSpPr txBox="1"/>
          <p:nvPr/>
        </p:nvSpPr>
        <p:spPr>
          <a:xfrm>
            <a:off x="7634009" y="2207193"/>
            <a:ext cx="1071984" cy="51077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/>
              <a:t>Edge counter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99E5A1E-14E8-5801-7676-269D0BAF68E4}"/>
              </a:ext>
            </a:extLst>
          </p:cNvPr>
          <p:cNvCxnSpPr/>
          <p:nvPr/>
        </p:nvCxnSpPr>
        <p:spPr>
          <a:xfrm>
            <a:off x="6941578" y="2429552"/>
            <a:ext cx="683949" cy="102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85D5675-0413-95DF-74EA-B1D47A7101D0}"/>
              </a:ext>
            </a:extLst>
          </p:cNvPr>
          <p:cNvSpPr txBox="1"/>
          <p:nvPr/>
        </p:nvSpPr>
        <p:spPr>
          <a:xfrm>
            <a:off x="9295418" y="2076028"/>
            <a:ext cx="1071984" cy="71508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/>
              <a:t>Sliding Window Filter</a:t>
            </a:r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09CC18A-324A-8431-423D-4FD2D1BDE84A}"/>
              </a:ext>
            </a:extLst>
          </p:cNvPr>
          <p:cNvCxnSpPr/>
          <p:nvPr/>
        </p:nvCxnSpPr>
        <p:spPr>
          <a:xfrm>
            <a:off x="8707597" y="2409136"/>
            <a:ext cx="581867" cy="33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9AA5FCD-BDB0-F0A2-97DB-CFDE2D82A24B}"/>
              </a:ext>
            </a:extLst>
          </p:cNvPr>
          <p:cNvSpPr txBox="1"/>
          <p:nvPr/>
        </p:nvSpPr>
        <p:spPr>
          <a:xfrm>
            <a:off x="10850646" y="2182207"/>
            <a:ext cx="1071984" cy="51077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/>
              <a:t>Calculate Rpm</a:t>
            </a:r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41B2D18-DD8D-B1C5-C266-7DF24DE42F2D}"/>
              </a:ext>
            </a:extLst>
          </p:cNvPr>
          <p:cNvCxnSpPr/>
          <p:nvPr/>
        </p:nvCxnSpPr>
        <p:spPr>
          <a:xfrm>
            <a:off x="10361327" y="2429552"/>
            <a:ext cx="520618" cy="102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DA2ECA47-70FA-4DEC-EAAC-B8B8051EF8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998" y="2900363"/>
            <a:ext cx="3499579" cy="688766"/>
          </a:xfrm>
          <a:prstGeom prst="rect">
            <a:avLst/>
          </a:prstGeom>
        </p:spPr>
      </p:pic>
      <p:pic>
        <p:nvPicPr>
          <p:cNvPr id="16" name="Picture 15" descr="A black text with black letters&#10;&#10;AI-generated content may be incorrect.">
            <a:extLst>
              <a:ext uri="{FF2B5EF4-FFF2-40B4-BE49-F238E27FC236}">
                <a16:creationId xmlns:a16="http://schemas.microsoft.com/office/drawing/2014/main" id="{8AFE3C17-502A-B214-992C-FFE3D5005D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060" y="3581791"/>
            <a:ext cx="1725587" cy="606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600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B079AC-1F61-0A00-8E44-3559B9663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DBFFD858-339D-E6AB-05EE-91ACF818C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847C8DC-8000-912D-1B09-0918028434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119C53-CBB8-EED3-8F41-5177B1FE0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899" y="-58113"/>
            <a:ext cx="5872146" cy="755741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3200" dirty="0"/>
              <a:t>Light and Acceleration Sensing (Liam)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EECDCD0-AF72-D292-F736-4D2D8563EB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C918B570-E310-FE9E-7DF6-3598CDB675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65480" y="1404656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AU" sz="2000" b="1" u="sng"/>
              <a:t>Light Sensor</a:t>
            </a:r>
          </a:p>
          <a:p>
            <a:r>
              <a:rPr lang="en-AU" sz="2000"/>
              <a:t>OPT3001 sensor to read illuminance in lux</a:t>
            </a:r>
          </a:p>
          <a:p>
            <a:r>
              <a:rPr lang="en-AU" sz="2000"/>
              <a:t>Samples data every 100ms (10Hz)</a:t>
            </a:r>
          </a:p>
          <a:p>
            <a:r>
              <a:rPr lang="en-AU" sz="2000"/>
              <a:t>Moving average filtering to reduce noise (5 window size)</a:t>
            </a:r>
          </a:p>
          <a:p>
            <a:r>
              <a:rPr lang="en-AU" sz="2000"/>
              <a:t>Clamps negative values to zero</a:t>
            </a:r>
          </a:p>
          <a:p>
            <a:r>
              <a:rPr lang="en-AU" sz="2000"/>
              <a:t>Swaps endianness of 16-bit raw data and converts into lux</a:t>
            </a:r>
          </a:p>
          <a:p>
            <a:r>
              <a:rPr lang="en-AU" sz="2000"/>
              <a:t>Low threshold of 50 lux</a:t>
            </a:r>
          </a:p>
          <a:p>
            <a:r>
              <a:rPr lang="en-AU" sz="2000"/>
              <a:t>High threshold of 4000 lux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0EEAEC85-8593-EF96-E351-1A78E9744E25}"/>
              </a:ext>
            </a:extLst>
          </p:cNvPr>
          <p:cNvSpPr txBox="1">
            <a:spLocks/>
          </p:cNvSpPr>
          <p:nvPr/>
        </p:nvSpPr>
        <p:spPr>
          <a:xfrm>
            <a:off x="6172200" y="1404656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2000" b="1" u="sng"/>
              <a:t>Acceleration Sensor</a:t>
            </a:r>
          </a:p>
          <a:p>
            <a:r>
              <a:rPr lang="en-AU" sz="2000"/>
              <a:t>BMI160 accelerometer for acceleration</a:t>
            </a:r>
          </a:p>
          <a:p>
            <a:r>
              <a:rPr lang="en-AU" sz="2000"/>
              <a:t>Samples data every 10ms (100Hz)</a:t>
            </a:r>
          </a:p>
          <a:p>
            <a:r>
              <a:rPr lang="en-AU" sz="2000"/>
              <a:t>Reads raw data over I2C with mutex-protected access</a:t>
            </a:r>
          </a:p>
          <a:p>
            <a:r>
              <a:rPr lang="en-AU" sz="2000"/>
              <a:t>Converts raw data into m/s^2</a:t>
            </a:r>
          </a:p>
          <a:p>
            <a:endParaRPr lang="en-AU" sz="2000"/>
          </a:p>
        </p:txBody>
      </p:sp>
    </p:spTree>
    <p:extLst>
      <p:ext uri="{BB962C8B-B14F-4D97-AF65-F5344CB8AC3E}">
        <p14:creationId xmlns:p14="http://schemas.microsoft.com/office/powerpoint/2010/main" val="42925433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CCE094-3474-6A79-28AC-B238B6616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7" name="Rectangle 86">
            <a:extLst>
              <a:ext uri="{FF2B5EF4-FFF2-40B4-BE49-F238E27FC236}">
                <a16:creationId xmlns:a16="http://schemas.microsoft.com/office/drawing/2014/main" id="{4B7933FF-CA94-FC14-0D2A-1FB31E5DB1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42192F31-C2BE-ABE0-2503-27B8B97CA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257" y="325369"/>
            <a:ext cx="5242660" cy="195684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Graphical User Interface (Rory)</a:t>
            </a:r>
          </a:p>
        </p:txBody>
      </p:sp>
      <p:sp>
        <p:nvSpPr>
          <p:cNvPr id="89" name="sketchy line">
            <a:extLst>
              <a:ext uri="{FF2B5EF4-FFF2-40B4-BE49-F238E27FC236}">
                <a16:creationId xmlns:a16="http://schemas.microsoft.com/office/drawing/2014/main" id="{2FABC149-3D23-13BA-A487-C236057D5B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F9D640-0A15-6ECF-C0A7-CC659C41D888}"/>
              </a:ext>
            </a:extLst>
          </p:cNvPr>
          <p:cNvSpPr txBox="1"/>
          <p:nvPr/>
        </p:nvSpPr>
        <p:spPr>
          <a:xfrm>
            <a:off x="640080" y="2603959"/>
            <a:ext cx="4669412" cy="3925784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14300"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Base Requirements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Start/Stop 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LED Indicator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Motor RPM Control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Realtime Clock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Set current limit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Set acceleration limit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System Status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E-stop Acknowledgement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Classify Day/Night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Plot Motor RPM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Plot Motor Power Usage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Plot Light Level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Plot Average Absolute Acceleration</a:t>
            </a:r>
          </a:p>
        </p:txBody>
      </p:sp>
      <p:pic>
        <p:nvPicPr>
          <p:cNvPr id="13" name="Picture 12" descr="Graphic User Interface: Benefits &amp; Challenges | BotPenguin">
            <a:extLst>
              <a:ext uri="{FF2B5EF4-FFF2-40B4-BE49-F238E27FC236}">
                <a16:creationId xmlns:a16="http://schemas.microsoft.com/office/drawing/2014/main" id="{1161F2B6-9E35-6C62-F8DC-7033299D53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03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135085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4219D8-7885-0F95-AB6D-8BDECCDCB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4" name="Rectangle 93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A5C97138-BD25-0264-6643-7E859ED5D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3208"/>
            <a:ext cx="9833548" cy="6980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Panels (Rory)</a:t>
            </a:r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F2BBE6A3-252F-ECFC-135A-513AC349BFC9}"/>
              </a:ext>
            </a:extLst>
          </p:cNvPr>
          <p:cNvSpPr txBox="1"/>
          <p:nvPr/>
        </p:nvSpPr>
        <p:spPr>
          <a:xfrm>
            <a:off x="2609" y="1333362"/>
            <a:ext cx="7603577" cy="5529063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>
                <a:solidFill>
                  <a:schemeClr val="tx2"/>
                </a:solidFill>
              </a:rPr>
              <a:t>Control Panel</a:t>
            </a:r>
            <a:endParaRPr lang="en-US"/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Start/Stop 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LED Indicator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Motor RPM Control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Realtime Clock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Set current limit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Set acceleration limit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System Status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E-stop Acknowledgement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Classify Day/Night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>
                <a:solidFill>
                  <a:schemeClr val="tx2"/>
                </a:solidFill>
              </a:rPr>
              <a:t>Plot Panel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Plot Motor RPM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Plot Motor Power Usage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Plot Light Level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Plot Average Absolute Acceleration</a:t>
            </a:r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" name="Picture 1" descr="A screen shot of a control panel&#10;&#10;AI-generated content may be incorrect.">
            <a:extLst>
              <a:ext uri="{FF2B5EF4-FFF2-40B4-BE49-F238E27FC236}">
                <a16:creationId xmlns:a16="http://schemas.microsoft.com/office/drawing/2014/main" id="{DA8F3E2D-2B6E-0093-AD31-BEFB6C1632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6296" y="1166812"/>
            <a:ext cx="2766173" cy="2215964"/>
          </a:xfrm>
          <a:prstGeom prst="rect">
            <a:avLst/>
          </a:prstGeom>
        </p:spPr>
      </p:pic>
      <p:pic>
        <p:nvPicPr>
          <p:cNvPr id="3" name="Picture 2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42610D6D-E6EF-ADF2-5195-453AB4D15F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7591" y="3430401"/>
            <a:ext cx="3241862" cy="2615454"/>
          </a:xfrm>
          <a:prstGeom prst="rect">
            <a:avLst/>
          </a:prstGeom>
        </p:spPr>
      </p:pic>
      <p:pic>
        <p:nvPicPr>
          <p:cNvPr id="4" name="Picture 3" descr="A screen shot of a control panel&#10;&#10;AI-generated content may be incorrect.">
            <a:extLst>
              <a:ext uri="{FF2B5EF4-FFF2-40B4-BE49-F238E27FC236}">
                <a16:creationId xmlns:a16="http://schemas.microsoft.com/office/drawing/2014/main" id="{2AC59A66-9393-F889-B695-671CEBF058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2942" y="1155608"/>
            <a:ext cx="2744881" cy="2224927"/>
          </a:xfrm>
          <a:prstGeom prst="rect">
            <a:avLst/>
          </a:prstGeom>
        </p:spPr>
      </p:pic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334C0E42-60A5-E7B6-CDAF-07AC9F5B96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7069" y="3840815"/>
            <a:ext cx="2950509" cy="2437280"/>
          </a:xfrm>
          <a:prstGeom prst="rect">
            <a:avLst/>
          </a:prstGeom>
        </p:spPr>
      </p:pic>
      <p:pic>
        <p:nvPicPr>
          <p:cNvPr id="6" name="Picture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2BC22F4C-D1A7-F472-A294-77B43CFA86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7068" y="1151403"/>
            <a:ext cx="2935942" cy="2395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635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48D64C-66EC-BA9C-DBB0-72B49AA4B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6" name="Rectangle 95">
            <a:extLst>
              <a:ext uri="{FF2B5EF4-FFF2-40B4-BE49-F238E27FC236}">
                <a16:creationId xmlns:a16="http://schemas.microsoft.com/office/drawing/2014/main" id="{65219498-D544-41AC-98FE-8F956EF66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F500DBFC-17A9-4E0A-AEE2-A49F9AEEF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F5CF4A5B-48DD-A92B-CB6B-90D44E5CA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267832"/>
            <a:ext cx="4805996" cy="129711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72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 you Listening</a:t>
            </a:r>
            <a:endParaRPr lang="en-US" sz="7200" kern="1200" dirty="0">
              <a:solidFill>
                <a:schemeClr val="tx2"/>
              </a:solidFill>
              <a:latin typeface="+mj-lt"/>
            </a:endParaRPr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D74613BB-817C-4C4F-8A24-4936F2F06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01023" y="52996"/>
            <a:ext cx="6093363" cy="6805005"/>
            <a:chOff x="6101023" y="52996"/>
            <a:chExt cx="6093363" cy="6805005"/>
          </a:xfrm>
        </p:grpSpPr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926C820D-9A01-44F0-AE18-C2DAB089B8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3517682 w 5890490"/>
                <a:gd name="connsiteY0" fmla="*/ 0 h 6578439"/>
                <a:gd name="connsiteX1" fmla="*/ 5849513 w 5890490"/>
                <a:gd name="connsiteY1" fmla="*/ 841730 h 6578439"/>
                <a:gd name="connsiteX2" fmla="*/ 5890490 w 5890490"/>
                <a:gd name="connsiteY2" fmla="*/ 879060 h 6578439"/>
                <a:gd name="connsiteX3" fmla="*/ 5890490 w 5890490"/>
                <a:gd name="connsiteY3" fmla="*/ 1816052 h 6578439"/>
                <a:gd name="connsiteX4" fmla="*/ 5856961 w 5890490"/>
                <a:gd name="connsiteY4" fmla="*/ 1771023 h 6578439"/>
                <a:gd name="connsiteX5" fmla="*/ 5655397 w 5890490"/>
                <a:gd name="connsiteY5" fmla="*/ 1548813 h 6578439"/>
                <a:gd name="connsiteX6" fmla="*/ 3517682 w 5890490"/>
                <a:gd name="connsiteY6" fmla="*/ 658717 h 6578439"/>
                <a:gd name="connsiteX7" fmla="*/ 2395696 w 5890490"/>
                <a:gd name="connsiteY7" fmla="*/ 850721 h 6578439"/>
                <a:gd name="connsiteX8" fmla="*/ 1519955 w 5890490"/>
                <a:gd name="connsiteY8" fmla="*/ 1450441 h 6578439"/>
                <a:gd name="connsiteX9" fmla="*/ 1223630 w 5890490"/>
                <a:gd name="connsiteY9" fmla="*/ 1841430 h 6578439"/>
                <a:gd name="connsiteX10" fmla="*/ 1075857 w 5890490"/>
                <a:gd name="connsiteY10" fmla="*/ 2329343 h 6578439"/>
                <a:gd name="connsiteX11" fmla="*/ 731010 w 5890490"/>
                <a:gd name="connsiteY11" fmla="*/ 3483744 h 6578439"/>
                <a:gd name="connsiteX12" fmla="*/ 741000 w 5890490"/>
                <a:gd name="connsiteY12" fmla="*/ 4479719 h 6578439"/>
                <a:gd name="connsiteX13" fmla="*/ 1315615 w 5890490"/>
                <a:gd name="connsiteY13" fmla="*/ 5443827 h 6578439"/>
                <a:gd name="connsiteX14" fmla="*/ 2277503 w 5890490"/>
                <a:gd name="connsiteY14" fmla="*/ 6259386 h 6578439"/>
                <a:gd name="connsiteX15" fmla="*/ 3439448 w 5890490"/>
                <a:gd name="connsiteY15" fmla="*/ 6551739 h 6578439"/>
                <a:gd name="connsiteX16" fmla="*/ 4408732 w 5890490"/>
                <a:gd name="connsiteY16" fmla="*/ 6255172 h 6578439"/>
                <a:gd name="connsiteX17" fmla="*/ 5343243 w 5890490"/>
                <a:gd name="connsiteY17" fmla="*/ 5442509 h 6578439"/>
                <a:gd name="connsiteX18" fmla="*/ 5745566 w 5890490"/>
                <a:gd name="connsiteY18" fmla="*/ 5056656 h 6578439"/>
                <a:gd name="connsiteX19" fmla="*/ 5890490 w 5890490"/>
                <a:gd name="connsiteY19" fmla="*/ 4920880 h 6578439"/>
                <a:gd name="connsiteX20" fmla="*/ 5890490 w 5890490"/>
                <a:gd name="connsiteY20" fmla="*/ 5821966 h 6578439"/>
                <a:gd name="connsiteX21" fmla="*/ 5802002 w 5890490"/>
                <a:gd name="connsiteY21" fmla="*/ 5907904 h 6578439"/>
                <a:gd name="connsiteX22" fmla="*/ 5294358 w 5890490"/>
                <a:gd name="connsiteY22" fmla="*/ 6397505 h 6578439"/>
                <a:gd name="connsiteX23" fmla="*/ 5077178 w 5890490"/>
                <a:gd name="connsiteY23" fmla="*/ 6578439 h 6578439"/>
                <a:gd name="connsiteX24" fmla="*/ 1567290 w 5890490"/>
                <a:gd name="connsiteY24" fmla="*/ 6578439 h 6578439"/>
                <a:gd name="connsiteX25" fmla="*/ 1508588 w 5890490"/>
                <a:gd name="connsiteY25" fmla="*/ 6535186 h 6578439"/>
                <a:gd name="connsiteX26" fmla="*/ 826498 w 5890490"/>
                <a:gd name="connsiteY26" fmla="*/ 5876034 h 6578439"/>
                <a:gd name="connsiteX27" fmla="*/ 122403 w 5890490"/>
                <a:gd name="connsiteY27" fmla="*/ 3255655 h 6578439"/>
                <a:gd name="connsiteX28" fmla="*/ 1061197 w 5890490"/>
                <a:gd name="connsiteY28" fmla="*/ 984650 h 6578439"/>
                <a:gd name="connsiteX29" fmla="*/ 3517682 w 5890490"/>
                <a:gd name="connsiteY29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890490" h="6578439">
                  <a:moveTo>
                    <a:pt x="3517682" y="0"/>
                  </a:moveTo>
                  <a:cubicBezTo>
                    <a:pt x="4402016" y="0"/>
                    <a:pt x="5213741" y="315483"/>
                    <a:pt x="5849513" y="841730"/>
                  </a:cubicBezTo>
                  <a:lnTo>
                    <a:pt x="5890490" y="879060"/>
                  </a:lnTo>
                  <a:lnTo>
                    <a:pt x="5890490" y="1816052"/>
                  </a:lnTo>
                  <a:lnTo>
                    <a:pt x="5856961" y="1771023"/>
                  </a:lnTo>
                  <a:cubicBezTo>
                    <a:pt x="5793650" y="1694076"/>
                    <a:pt x="5726429" y="1619959"/>
                    <a:pt x="5655397" y="1548813"/>
                  </a:cubicBezTo>
                  <a:cubicBezTo>
                    <a:pt x="5082208" y="974906"/>
                    <a:pt x="4322973" y="658717"/>
                    <a:pt x="3517682" y="658717"/>
                  </a:cubicBezTo>
                  <a:cubicBezTo>
                    <a:pt x="3085520" y="658717"/>
                    <a:pt x="2718488" y="721533"/>
                    <a:pt x="2395696" y="850721"/>
                  </a:cubicBezTo>
                  <a:cubicBezTo>
                    <a:pt x="2079132" y="977407"/>
                    <a:pt x="1792668" y="1173626"/>
                    <a:pt x="1519955" y="1450441"/>
                  </a:cubicBezTo>
                  <a:cubicBezTo>
                    <a:pt x="1330275" y="1642840"/>
                    <a:pt x="1263719" y="1756094"/>
                    <a:pt x="1223630" y="1841430"/>
                  </a:cubicBezTo>
                  <a:cubicBezTo>
                    <a:pt x="1166545" y="1962981"/>
                    <a:pt x="1128532" y="2116663"/>
                    <a:pt x="1075857" y="2329343"/>
                  </a:cubicBezTo>
                  <a:cubicBezTo>
                    <a:pt x="1008652" y="2601153"/>
                    <a:pt x="916537" y="2973574"/>
                    <a:pt x="731010" y="3483744"/>
                  </a:cubicBezTo>
                  <a:cubicBezTo>
                    <a:pt x="617488" y="3795981"/>
                    <a:pt x="620731" y="4121653"/>
                    <a:pt x="741000" y="4479719"/>
                  </a:cubicBezTo>
                  <a:cubicBezTo>
                    <a:pt x="847257" y="4796172"/>
                    <a:pt x="1045888" y="5129481"/>
                    <a:pt x="1315615" y="5443827"/>
                  </a:cubicBezTo>
                  <a:cubicBezTo>
                    <a:pt x="1630753" y="5810980"/>
                    <a:pt x="1945371" y="6077784"/>
                    <a:pt x="2277503" y="6259386"/>
                  </a:cubicBezTo>
                  <a:cubicBezTo>
                    <a:pt x="2637530" y="6456133"/>
                    <a:pt x="3017536" y="6551739"/>
                    <a:pt x="3439448" y="6551739"/>
                  </a:cubicBezTo>
                  <a:cubicBezTo>
                    <a:pt x="3781571" y="6551739"/>
                    <a:pt x="4089573" y="6457449"/>
                    <a:pt x="4408732" y="6255172"/>
                  </a:cubicBezTo>
                  <a:cubicBezTo>
                    <a:pt x="4738010" y="6046310"/>
                    <a:pt x="5050941" y="5739207"/>
                    <a:pt x="5343243" y="5442509"/>
                  </a:cubicBezTo>
                  <a:cubicBezTo>
                    <a:pt x="5479860" y="5303970"/>
                    <a:pt x="5614918" y="5178206"/>
                    <a:pt x="5745566" y="5056656"/>
                  </a:cubicBezTo>
                  <a:lnTo>
                    <a:pt x="5890490" y="4920880"/>
                  </a:lnTo>
                  <a:lnTo>
                    <a:pt x="5890490" y="5821966"/>
                  </a:lnTo>
                  <a:lnTo>
                    <a:pt x="5802002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458B604F-996E-4349-B131-E04ED285D8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5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27CCEAF3-651B-4605-AE58-F96E227036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3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/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ED519330-E5F1-4248-B58C-1AA0D9E6D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93" name="Graphic 92" descr="Smiling Face with No Fill">
            <a:extLst>
              <a:ext uri="{FF2B5EF4-FFF2-40B4-BE49-F238E27FC236}">
                <a16:creationId xmlns:a16="http://schemas.microsoft.com/office/drawing/2014/main" id="{8F27F229-E32D-466C-DB2C-DE89A7DE47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29652" y="1859078"/>
            <a:ext cx="3821102" cy="382110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06846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422</Words>
  <Application>Microsoft Office PowerPoint</Application>
  <PresentationFormat>Widescreen</PresentationFormat>
  <Paragraphs>90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Aptos Light</vt:lpstr>
      <vt:lpstr>Arial</vt:lpstr>
      <vt:lpstr>Calibri</vt:lpstr>
      <vt:lpstr>office theme</vt:lpstr>
      <vt:lpstr>EGH456  Electrical Vehicle Control Presentation</vt:lpstr>
      <vt:lpstr>Overview and Objective (Rory)</vt:lpstr>
      <vt:lpstr>Motor (Joel)</vt:lpstr>
      <vt:lpstr>Motor Rpm and Power Sensing (Ben)</vt:lpstr>
      <vt:lpstr>Light and Acceleration Sensing (Liam)</vt:lpstr>
      <vt:lpstr>Graphical User Interface (Rory)</vt:lpstr>
      <vt:lpstr>Panels (Rory)</vt:lpstr>
      <vt:lpstr>Thank you Listening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EGH456  Electrical Vehicle Control Presentation</dc:title>
  <dc:creator>Rory Blair</dc:creator>
  <cp:lastModifiedBy>Rory Blair</cp:lastModifiedBy>
  <cp:revision>658</cp:revision>
  <dcterms:created xsi:type="dcterms:W3CDTF">2025-05-27T11:47:37Z</dcterms:created>
  <dcterms:modified xsi:type="dcterms:W3CDTF">2025-05-28T23:13:46Z</dcterms:modified>
</cp:coreProperties>
</file>